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6" r:id="rId11"/>
    <p:sldId id="265" r:id="rId12"/>
    <p:sldId id="266" r:id="rId13"/>
    <p:sldId id="275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6858000" cy="9144000"/>
  <p:embeddedFontLst>
    <p:embeddedFont>
      <p:font typeface="Arimo Bold" panose="020B0604020202020204" charset="0"/>
      <p:regular r:id="rId23"/>
    </p:embeddedFont>
    <p:embeddedFont>
      <p:font typeface="Barlow" panose="00000500000000000000" pitchFamily="2" charset="0"/>
      <p:regular r:id="rId24"/>
    </p:embeddedFont>
    <p:embeddedFont>
      <p:font typeface="Barlow Bold" panose="020B0604020202020204" charset="0"/>
      <p:regular r:id="rId25"/>
    </p:embeddedFont>
    <p:embeddedFont>
      <p:font typeface="Barlow Italics" panose="020B0604020202020204" charset="0"/>
      <p:regular r:id="rId26"/>
    </p:embeddedFont>
    <p:embeddedFont>
      <p:font typeface="Canva Sans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7" d="100"/>
          <a:sy n="57" d="100"/>
        </p:scale>
        <p:origin x="562" y="-2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944EE-44B2-DB88-6F2C-B49A63FC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B84B22-434E-81ED-94E6-D7667E8EA1C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AF84CD-507A-7599-A805-A1A2797A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9854D51C-E2A5-E99F-F4D2-2DFD9FD30F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0E71B29C-8B1B-D2D9-B080-88E29CA12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E30DA-2F2B-320B-AE1E-ADCE5147861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2E571-ABB1-6C8A-B839-4A25DF14BF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5271164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D0CE-F68E-94CB-9BD6-21FB5187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D6A139-E08C-A706-F2C9-03DC881C8E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03ADF7-0B94-DF24-5C74-78E2E8517B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AF09F783-66F8-C0CB-AAED-815FE8297C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9972A90-376E-D0E4-5400-DF6346E83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D5B23-EB7C-3580-6BC7-573B6FD968C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DE456-85C1-6D06-EED7-5283B0245F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3862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FD7B-EA6E-AFEE-3F83-C2A6D5C13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9B53E01-58FD-5B05-CEF7-CD451A3BF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6F4ACA-BC06-17CA-85F9-8410FC5F9A3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2056207-EC78-9DDE-5272-B987ECB89B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029E832-D2FC-D635-17E3-B32458396D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2D03B-F56F-DEF5-24C8-441D787B8E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A0433-9EB9-626C-16DF-72AB6130A9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6538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hyperlink" Target="https://gamma.app/?utm_source=made-with-gamm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86401" y="1256225"/>
            <a:ext cx="13821421" cy="7774549"/>
          </a:xfrm>
          <a:custGeom>
            <a:avLst/>
            <a:gdLst/>
            <a:ahLst/>
            <a:cxnLst/>
            <a:rect l="l" t="t" r="r" b="b"/>
            <a:pathLst>
              <a:path w="13821421" h="7774549">
                <a:moveTo>
                  <a:pt x="0" y="0"/>
                </a:moveTo>
                <a:lnTo>
                  <a:pt x="13821422" y="0"/>
                </a:lnTo>
                <a:lnTo>
                  <a:pt x="13821422" y="7774550"/>
                </a:lnTo>
                <a:lnTo>
                  <a:pt x="0" y="7774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8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FBB64D-DE46-84FB-60EE-308494AE3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E04E6AC5-D55E-4DE0-E1CC-37E705C3DF9E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6F7254-16F5-E698-604B-B922A6B9A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76350"/>
            <a:ext cx="5486400" cy="7734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4795B3-C1BD-F6E5-1E02-6957E0D2C6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6505" y="1276350"/>
            <a:ext cx="5871547" cy="7734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F84B31-400D-7B45-8B06-B41B42CE85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6736" y="1223010"/>
            <a:ext cx="5711224" cy="773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58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31">
                <a:alpha val="56078"/>
              </a:srgbClr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38046" y="1562992"/>
            <a:ext cx="9269909" cy="177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49"/>
              </a:lnSpc>
            </a:pPr>
            <a:r>
              <a:rPr lang="en-US" sz="5374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AI-Powered Roadmap Builder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8046" y="3664149"/>
            <a:ext cx="9269909" cy="1367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2"/>
              </a:lnSpc>
            </a:pPr>
            <a:r>
              <a:rPr lang="en-US" sz="3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Smart Learning &amp; Problem-Solving with AI, Videos &amp; Interactive Files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214839" y="1000125"/>
            <a:ext cx="5858321" cy="714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74"/>
              </a:lnSpc>
            </a:pPr>
            <a:r>
              <a:rPr lang="en-US" sz="43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Evaluation Parameters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0046" y="2869406"/>
            <a:ext cx="16127909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Each section of this presentation maps directly to the project rubric.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0521" y="3805535"/>
            <a:ext cx="16146959" cy="3978771"/>
            <a:chOff x="0" y="0"/>
            <a:chExt cx="21529278" cy="53050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529294" cy="5305044"/>
            </a:xfrm>
            <a:custGeom>
              <a:avLst/>
              <a:gdLst/>
              <a:ahLst/>
              <a:cxnLst/>
              <a:rect l="l" t="t" r="r" b="b"/>
              <a:pathLst>
                <a:path w="21529294" h="5305044">
                  <a:moveTo>
                    <a:pt x="0" y="629920"/>
                  </a:moveTo>
                  <a:cubicBezTo>
                    <a:pt x="0" y="281940"/>
                    <a:pt x="283083" y="0"/>
                    <a:pt x="632206" y="0"/>
                  </a:cubicBezTo>
                  <a:lnTo>
                    <a:pt x="20897087" y="0"/>
                  </a:lnTo>
                  <a:lnTo>
                    <a:pt x="20897087" y="12700"/>
                  </a:lnTo>
                  <a:lnTo>
                    <a:pt x="20897087" y="0"/>
                  </a:lnTo>
                  <a:cubicBezTo>
                    <a:pt x="21246210" y="0"/>
                    <a:pt x="21529294" y="281940"/>
                    <a:pt x="21529294" y="629920"/>
                  </a:cubicBezTo>
                  <a:lnTo>
                    <a:pt x="21516594" y="629920"/>
                  </a:lnTo>
                  <a:lnTo>
                    <a:pt x="21529294" y="629920"/>
                  </a:lnTo>
                  <a:lnTo>
                    <a:pt x="21529294" y="4675124"/>
                  </a:lnTo>
                  <a:lnTo>
                    <a:pt x="21516594" y="4675124"/>
                  </a:lnTo>
                  <a:lnTo>
                    <a:pt x="21529294" y="4675124"/>
                  </a:lnTo>
                  <a:cubicBezTo>
                    <a:pt x="21529294" y="5023104"/>
                    <a:pt x="21246210" y="5305044"/>
                    <a:pt x="20897087" y="5305044"/>
                  </a:cubicBezTo>
                  <a:lnTo>
                    <a:pt x="20897087" y="5292344"/>
                  </a:lnTo>
                  <a:lnTo>
                    <a:pt x="20897087" y="5305044"/>
                  </a:lnTo>
                  <a:lnTo>
                    <a:pt x="632206" y="5305044"/>
                  </a:lnTo>
                  <a:lnTo>
                    <a:pt x="632206" y="5292344"/>
                  </a:lnTo>
                  <a:lnTo>
                    <a:pt x="632206" y="5305044"/>
                  </a:lnTo>
                  <a:cubicBezTo>
                    <a:pt x="283083" y="5305044"/>
                    <a:pt x="0" y="5022977"/>
                    <a:pt x="0" y="4675124"/>
                  </a:cubicBezTo>
                  <a:lnTo>
                    <a:pt x="0" y="629920"/>
                  </a:lnTo>
                  <a:lnTo>
                    <a:pt x="12700" y="629920"/>
                  </a:lnTo>
                  <a:lnTo>
                    <a:pt x="0" y="629920"/>
                  </a:lnTo>
                  <a:moveTo>
                    <a:pt x="25400" y="629920"/>
                  </a:moveTo>
                  <a:lnTo>
                    <a:pt x="25400" y="4675124"/>
                  </a:lnTo>
                  <a:lnTo>
                    <a:pt x="12700" y="4675124"/>
                  </a:lnTo>
                  <a:lnTo>
                    <a:pt x="25400" y="4675124"/>
                  </a:lnTo>
                  <a:cubicBezTo>
                    <a:pt x="25400" y="5009007"/>
                    <a:pt x="297053" y="5279644"/>
                    <a:pt x="632206" y="5279644"/>
                  </a:cubicBezTo>
                  <a:lnTo>
                    <a:pt x="20897087" y="5279644"/>
                  </a:lnTo>
                  <a:cubicBezTo>
                    <a:pt x="21232240" y="5279644"/>
                    <a:pt x="21503894" y="5008880"/>
                    <a:pt x="21503894" y="4675124"/>
                  </a:cubicBezTo>
                  <a:lnTo>
                    <a:pt x="21503894" y="629920"/>
                  </a:lnTo>
                  <a:cubicBezTo>
                    <a:pt x="21503894" y="296037"/>
                    <a:pt x="21232240" y="25400"/>
                    <a:pt x="20897087" y="25400"/>
                  </a:cubicBezTo>
                  <a:lnTo>
                    <a:pt x="632206" y="25400"/>
                  </a:lnTo>
                  <a:lnTo>
                    <a:pt x="632206" y="12700"/>
                  </a:lnTo>
                  <a:lnTo>
                    <a:pt x="632206" y="25400"/>
                  </a:lnTo>
                  <a:cubicBezTo>
                    <a:pt x="297053" y="25400"/>
                    <a:pt x="25400" y="296164"/>
                    <a:pt x="25400" y="629920"/>
                  </a:cubicBezTo>
                  <a:close/>
                </a:path>
              </a:pathLst>
            </a:custGeom>
            <a:solidFill>
              <a:srgbClr val="FFFFFF">
                <a:alpha val="5490"/>
              </a:srgbClr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099096" y="3834110"/>
            <a:ext cx="16089809" cy="784324"/>
            <a:chOff x="0" y="0"/>
            <a:chExt cx="21453078" cy="104576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53094" cy="1045718"/>
            </a:xfrm>
            <a:custGeom>
              <a:avLst/>
              <a:gdLst/>
              <a:ahLst/>
              <a:cxnLst/>
              <a:rect l="l" t="t" r="r" b="b"/>
              <a:pathLst>
                <a:path w="21453094" h="1045718">
                  <a:moveTo>
                    <a:pt x="0" y="0"/>
                  </a:moveTo>
                  <a:lnTo>
                    <a:pt x="21453094" y="0"/>
                  </a:lnTo>
                  <a:lnTo>
                    <a:pt x="21453094" y="1045718"/>
                  </a:lnTo>
                  <a:lnTo>
                    <a:pt x="0" y="10457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07616" y="3952578"/>
            <a:ext cx="10641063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Problem Statement &amp; Domain Understanding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75245" y="3952578"/>
            <a:ext cx="4205139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15 Marks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99096" y="4618435"/>
            <a:ext cx="16089809" cy="784324"/>
            <a:chOff x="0" y="0"/>
            <a:chExt cx="21453078" cy="104576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453094" cy="1045718"/>
            </a:xfrm>
            <a:custGeom>
              <a:avLst/>
              <a:gdLst/>
              <a:ahLst/>
              <a:cxnLst/>
              <a:rect l="l" t="t" r="r" b="b"/>
              <a:pathLst>
                <a:path w="21453094" h="1045718">
                  <a:moveTo>
                    <a:pt x="0" y="0"/>
                  </a:moveTo>
                  <a:lnTo>
                    <a:pt x="21453094" y="0"/>
                  </a:lnTo>
                  <a:lnTo>
                    <a:pt x="21453094" y="1045718"/>
                  </a:lnTo>
                  <a:lnTo>
                    <a:pt x="0" y="104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407616" y="4736901"/>
            <a:ext cx="10641063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Defined Objectives, Scope &amp; Expected Outcomes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75245" y="4736901"/>
            <a:ext cx="4205139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15 Marks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99096" y="5402759"/>
            <a:ext cx="16089809" cy="784324"/>
            <a:chOff x="0" y="0"/>
            <a:chExt cx="21453078" cy="104576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453094" cy="1045718"/>
            </a:xfrm>
            <a:custGeom>
              <a:avLst/>
              <a:gdLst/>
              <a:ahLst/>
              <a:cxnLst/>
              <a:rect l="l" t="t" r="r" b="b"/>
              <a:pathLst>
                <a:path w="21453094" h="1045718">
                  <a:moveTo>
                    <a:pt x="0" y="0"/>
                  </a:moveTo>
                  <a:lnTo>
                    <a:pt x="21453094" y="0"/>
                  </a:lnTo>
                  <a:lnTo>
                    <a:pt x="21453094" y="1045718"/>
                  </a:lnTo>
                  <a:lnTo>
                    <a:pt x="0" y="10457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407616" y="5521226"/>
            <a:ext cx="10641063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Methodology &amp; Initial Implementation Progress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75245" y="5521226"/>
            <a:ext cx="4205139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10 Marks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99096" y="6187082"/>
            <a:ext cx="16089809" cy="784324"/>
            <a:chOff x="0" y="0"/>
            <a:chExt cx="21453078" cy="104576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453094" cy="1045718"/>
            </a:xfrm>
            <a:custGeom>
              <a:avLst/>
              <a:gdLst/>
              <a:ahLst/>
              <a:cxnLst/>
              <a:rect l="l" t="t" r="r" b="b"/>
              <a:pathLst>
                <a:path w="21453094" h="1045718">
                  <a:moveTo>
                    <a:pt x="0" y="0"/>
                  </a:moveTo>
                  <a:lnTo>
                    <a:pt x="21453094" y="0"/>
                  </a:lnTo>
                  <a:lnTo>
                    <a:pt x="21453094" y="1045718"/>
                  </a:lnTo>
                  <a:lnTo>
                    <a:pt x="0" y="10457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407616" y="6305550"/>
            <a:ext cx="10641063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Research Outcome (Innovation / Publications / Patent)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675245" y="6305550"/>
            <a:ext cx="4205139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10 Marks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099096" y="6971408"/>
            <a:ext cx="16089809" cy="784324"/>
            <a:chOff x="0" y="0"/>
            <a:chExt cx="21453078" cy="104576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453094" cy="1045718"/>
            </a:xfrm>
            <a:custGeom>
              <a:avLst/>
              <a:gdLst/>
              <a:ahLst/>
              <a:cxnLst/>
              <a:rect l="l" t="t" r="r" b="b"/>
              <a:pathLst>
                <a:path w="21453094" h="1045718">
                  <a:moveTo>
                    <a:pt x="0" y="0"/>
                  </a:moveTo>
                  <a:lnTo>
                    <a:pt x="21453094" y="0"/>
                  </a:lnTo>
                  <a:lnTo>
                    <a:pt x="21453094" y="1045718"/>
                  </a:lnTo>
                  <a:lnTo>
                    <a:pt x="0" y="10457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1407616" y="7089874"/>
            <a:ext cx="10641063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Presentation Clarity &amp; Quality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75245" y="7089874"/>
            <a:ext cx="4205139" cy="471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"/>
              </a:lnSpc>
            </a:pPr>
            <a:r>
              <a:rPr lang="en-US" sz="19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10 Marks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80046" y="8017074"/>
            <a:ext cx="16127909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Total: 60 Marks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31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064348" y="699790"/>
            <a:ext cx="10159305" cy="649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7"/>
              </a:lnSpc>
            </a:pPr>
            <a:r>
              <a:rPr lang="en-US" sz="3749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Problem Statement &amp; Domain Understanding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54931" y="1882974"/>
            <a:ext cx="7458521" cy="2677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 today’s digital era, learners and professionals grapple with </a:t>
            </a: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scattered and unstructured resources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Current AI tools offer isolated answers, failing to provide </a:t>
            </a: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comprehensive step-by-step learning roadmaps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 Educational platforms lack integration of interactive files, AI explanations, and structured outputs. This leads to </a:t>
            </a: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confusion, wasted time, and inefficient learning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8481" y="1959174"/>
            <a:ext cx="38100" cy="2601218"/>
            <a:chOff x="0" y="0"/>
            <a:chExt cx="50800" cy="3468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3468243"/>
            </a:xfrm>
            <a:custGeom>
              <a:avLst/>
              <a:gdLst/>
              <a:ahLst/>
              <a:cxnLst/>
              <a:rect l="l" t="t" r="r" b="b"/>
              <a:pathLst>
                <a:path w="50800" h="3468243">
                  <a:moveTo>
                    <a:pt x="0" y="0"/>
                  </a:moveTo>
                  <a:lnTo>
                    <a:pt x="50800" y="0"/>
                  </a:lnTo>
                  <a:lnTo>
                    <a:pt x="50800" y="3468243"/>
                  </a:lnTo>
                  <a:lnTo>
                    <a:pt x="0" y="3468243"/>
                  </a:ln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948481" y="5466309"/>
            <a:ext cx="7864971" cy="50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Domain: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EdTech + AI-driven Knowledge Management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8481" y="6143625"/>
            <a:ext cx="7864971" cy="509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Target Users: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Students, Developers, Researchers/Professionals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8481" y="6820941"/>
            <a:ext cx="7864971" cy="943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Trend &amp; Relevance:</a:t>
            </a:r>
            <a:r>
              <a:rPr lang="en-US" sz="21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The global EdTech market demands personalized AI solutions, aligning directly with this project's vision.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484072" y="1959174"/>
            <a:ext cx="6598295" cy="6598295"/>
            <a:chOff x="0" y="0"/>
            <a:chExt cx="8797727" cy="8797727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8797671" cy="8797671"/>
            </a:xfrm>
            <a:custGeom>
              <a:avLst/>
              <a:gdLst/>
              <a:ahLst/>
              <a:cxnLst/>
              <a:rect l="l" t="t" r="r" b="b"/>
              <a:pathLst>
                <a:path w="8797671" h="8797671">
                  <a:moveTo>
                    <a:pt x="0" y="0"/>
                  </a:moveTo>
                  <a:lnTo>
                    <a:pt x="8797671" y="0"/>
                  </a:lnTo>
                  <a:lnTo>
                    <a:pt x="8797671" y="8797671"/>
                  </a:lnTo>
                  <a:lnTo>
                    <a:pt x="0" y="8797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598741" y="749201"/>
            <a:ext cx="5090369" cy="674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sz="4000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Defined Objectives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303287" y="1996082"/>
            <a:ext cx="15681424" cy="8164711"/>
            <a:chOff x="0" y="0"/>
            <a:chExt cx="20908565" cy="1088628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0908518" cy="10886313"/>
            </a:xfrm>
            <a:custGeom>
              <a:avLst/>
              <a:gdLst/>
              <a:ahLst/>
              <a:cxnLst/>
              <a:rect l="l" t="t" r="r" b="b"/>
              <a:pathLst>
                <a:path w="20908518" h="10886313">
                  <a:moveTo>
                    <a:pt x="0" y="0"/>
                  </a:moveTo>
                  <a:lnTo>
                    <a:pt x="20908518" y="0"/>
                  </a:lnTo>
                  <a:lnTo>
                    <a:pt x="20908518" y="10886313"/>
                  </a:lnTo>
                  <a:lnTo>
                    <a:pt x="0" y="10886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098011" y="8215740"/>
            <a:ext cx="814179" cy="814179"/>
            <a:chOff x="0" y="0"/>
            <a:chExt cx="1085572" cy="108557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85596" cy="1085596"/>
            </a:xfrm>
            <a:custGeom>
              <a:avLst/>
              <a:gdLst/>
              <a:ahLst/>
              <a:cxnLst/>
              <a:rect l="l" t="t" r="r" b="b"/>
              <a:pathLst>
                <a:path w="1085596" h="1085596">
                  <a:moveTo>
                    <a:pt x="0" y="0"/>
                  </a:moveTo>
                  <a:lnTo>
                    <a:pt x="1085596" y="0"/>
                  </a:lnTo>
                  <a:lnTo>
                    <a:pt x="1085596" y="1085596"/>
                  </a:lnTo>
                  <a:lnTo>
                    <a:pt x="0" y="10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2" b="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553534" y="8211701"/>
            <a:ext cx="3256716" cy="42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50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Content Tools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50459" y="8758585"/>
            <a:ext cx="5959790" cy="3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File interaction and export.</a:t>
            </a:r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7906511" y="6358139"/>
            <a:ext cx="814179" cy="814179"/>
            <a:chOff x="0" y="0"/>
            <a:chExt cx="1085572" cy="108557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085596" cy="1085596"/>
            </a:xfrm>
            <a:custGeom>
              <a:avLst/>
              <a:gdLst/>
              <a:ahLst/>
              <a:cxnLst/>
              <a:rect l="l" t="t" r="r" b="b"/>
              <a:pathLst>
                <a:path w="1085596" h="1085596">
                  <a:moveTo>
                    <a:pt x="0" y="0"/>
                  </a:moveTo>
                  <a:lnTo>
                    <a:pt x="1085596" y="0"/>
                  </a:lnTo>
                  <a:lnTo>
                    <a:pt x="1085596" y="1085596"/>
                  </a:lnTo>
                  <a:lnTo>
                    <a:pt x="0" y="10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2" b="2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4381116" y="6322806"/>
            <a:ext cx="3256716" cy="42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50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Media Integration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78041" y="6869689"/>
            <a:ext cx="5959791" cy="3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Seamless video embedding.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7939079" y="4306408"/>
            <a:ext cx="814179" cy="814179"/>
            <a:chOff x="0" y="0"/>
            <a:chExt cx="1085572" cy="1085572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085596" cy="1085596"/>
            </a:xfrm>
            <a:custGeom>
              <a:avLst/>
              <a:gdLst/>
              <a:ahLst/>
              <a:cxnLst/>
              <a:rect l="l" t="t" r="r" b="b"/>
              <a:pathLst>
                <a:path w="1085596" h="1085596">
                  <a:moveTo>
                    <a:pt x="0" y="0"/>
                  </a:moveTo>
                  <a:lnTo>
                    <a:pt x="1085596" y="0"/>
                  </a:lnTo>
                  <a:lnTo>
                    <a:pt x="1085596" y="1085596"/>
                  </a:lnTo>
                  <a:lnTo>
                    <a:pt x="0" y="10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2" b="2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4381116" y="4287358"/>
            <a:ext cx="3256716" cy="42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50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AI Guidance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78041" y="4834241"/>
            <a:ext cx="5959791" cy="37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Explainable AI-driven feedback.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372034" y="2368662"/>
            <a:ext cx="814179" cy="814179"/>
            <a:chOff x="0" y="0"/>
            <a:chExt cx="1085572" cy="108557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85596" cy="1085596"/>
            </a:xfrm>
            <a:custGeom>
              <a:avLst/>
              <a:gdLst/>
              <a:ahLst/>
              <a:cxnLst/>
              <a:rect l="l" t="t" r="r" b="b"/>
              <a:pathLst>
                <a:path w="1085596" h="1085596">
                  <a:moveTo>
                    <a:pt x="0" y="0"/>
                  </a:moveTo>
                  <a:lnTo>
                    <a:pt x="1085596" y="0"/>
                  </a:lnTo>
                  <a:lnTo>
                    <a:pt x="1085596" y="1085596"/>
                  </a:lnTo>
                  <a:lnTo>
                    <a:pt x="0" y="1085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2" b="2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5814071" y="2349612"/>
            <a:ext cx="3256716" cy="426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4"/>
              </a:lnSpc>
            </a:pPr>
            <a:r>
              <a:rPr lang="en-US" sz="1500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Core Objective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10996" y="2896495"/>
            <a:ext cx="5959791" cy="3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87"/>
              </a:lnSpc>
            </a:pPr>
            <a:r>
              <a:rPr lang="en-US" sz="131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Clear learning roadmaps.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819454" y="505569"/>
            <a:ext cx="4648944" cy="46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4"/>
              </a:lnSpc>
            </a:pPr>
            <a:r>
              <a:rPr lang="en-US" sz="2687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Scope &amp; Expected Outcomes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14155" y="1350020"/>
            <a:ext cx="2158604" cy="55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8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Scope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679847" y="2251322"/>
            <a:ext cx="485626" cy="485626"/>
            <a:chOff x="0" y="0"/>
            <a:chExt cx="647502" cy="647502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647446" cy="647446"/>
            </a:xfrm>
            <a:custGeom>
              <a:avLst/>
              <a:gdLst/>
              <a:ahLst/>
              <a:cxnLst/>
              <a:rect l="l" t="t" r="r" b="b"/>
              <a:pathLst>
                <a:path w="647446" h="647446">
                  <a:moveTo>
                    <a:pt x="0" y="0"/>
                  </a:moveTo>
                  <a:lnTo>
                    <a:pt x="647446" y="0"/>
                  </a:lnTo>
                  <a:lnTo>
                    <a:pt x="647446" y="647446"/>
                  </a:lnTo>
                  <a:lnTo>
                    <a:pt x="0" y="64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8" b="-8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679848" y="2912120"/>
            <a:ext cx="2158604" cy="28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Students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9847" y="3263428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Structured exam prep &amp; project learning.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79848" y="4010912"/>
            <a:ext cx="485626" cy="485626"/>
            <a:chOff x="0" y="0"/>
            <a:chExt cx="647502" cy="647502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647446" cy="647446"/>
            </a:xfrm>
            <a:custGeom>
              <a:avLst/>
              <a:gdLst/>
              <a:ahLst/>
              <a:cxnLst/>
              <a:rect l="l" t="t" r="r" b="b"/>
              <a:pathLst>
                <a:path w="647446" h="647446">
                  <a:moveTo>
                    <a:pt x="0" y="0"/>
                  </a:moveTo>
                  <a:lnTo>
                    <a:pt x="647446" y="0"/>
                  </a:lnTo>
                  <a:lnTo>
                    <a:pt x="647446" y="647446"/>
                  </a:lnTo>
                  <a:lnTo>
                    <a:pt x="0" y="64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8" b="-8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679847" y="4667989"/>
            <a:ext cx="2158604" cy="28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Developers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9848" y="5023390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Mastering new technologies step by step.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679848" y="5772294"/>
            <a:ext cx="485626" cy="485626"/>
            <a:chOff x="0" y="0"/>
            <a:chExt cx="647502" cy="647502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647446" cy="647446"/>
            </a:xfrm>
            <a:custGeom>
              <a:avLst/>
              <a:gdLst/>
              <a:ahLst/>
              <a:cxnLst/>
              <a:rect l="l" t="t" r="r" b="b"/>
              <a:pathLst>
                <a:path w="647446" h="647446">
                  <a:moveTo>
                    <a:pt x="0" y="0"/>
                  </a:moveTo>
                  <a:lnTo>
                    <a:pt x="647446" y="0"/>
                  </a:lnTo>
                  <a:lnTo>
                    <a:pt x="647446" y="647446"/>
                  </a:lnTo>
                  <a:lnTo>
                    <a:pt x="0" y="64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8" b="-8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679848" y="6429370"/>
            <a:ext cx="2767905" cy="288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Researchers/Professionals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9847" y="6851446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Exploring new domains with clarity.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24767" y="1279638"/>
            <a:ext cx="4834533" cy="552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62"/>
              </a:lnSpc>
            </a:pPr>
            <a:r>
              <a:rPr lang="en-US" sz="348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Expected Outcomes</a:t>
            </a:r>
          </a:p>
        </p:txBody>
      </p: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982771" y="1883718"/>
            <a:ext cx="7842647" cy="7842648"/>
            <a:chOff x="0" y="0"/>
            <a:chExt cx="10969625" cy="10969625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0969625" cy="10969625"/>
            </a:xfrm>
            <a:custGeom>
              <a:avLst/>
              <a:gdLst/>
              <a:ahLst/>
              <a:cxnLst/>
              <a:rect l="l" t="t" r="r" b="b"/>
              <a:pathLst>
                <a:path w="10969625" h="10969625">
                  <a:moveTo>
                    <a:pt x="0" y="0"/>
                  </a:moveTo>
                  <a:lnTo>
                    <a:pt x="10969625" y="0"/>
                  </a:lnTo>
                  <a:lnTo>
                    <a:pt x="10969625" y="10969625"/>
                  </a:lnTo>
                  <a:lnTo>
                    <a:pt x="0" y="109696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390459" y="10255300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Clear learning pathways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390459" y="10633919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Faster problem-solving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390459" y="11012538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Personalized, AI-driven knowledge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390459" y="11391156"/>
            <a:ext cx="8227219" cy="367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26219" lvl="1" indent="-113109" algn="l">
              <a:lnSpc>
                <a:spcPts val="2437"/>
              </a:lnSpc>
              <a:buFont typeface="Arial"/>
              <a:buChar char="•"/>
            </a:pPr>
            <a:r>
              <a:rPr lang="en-US" sz="15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Easy sharing/export of structured content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24918" y="181527"/>
            <a:ext cx="5741342" cy="1358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68"/>
              </a:lnSpc>
            </a:pPr>
            <a:r>
              <a:rPr lang="en-US" sz="4324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Methodology &amp; Tech Stack: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24918" y="1739949"/>
            <a:ext cx="4632275" cy="1143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1" u="sng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Chosen Technologies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0084" y="3003500"/>
            <a:ext cx="7916764" cy="134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Our selection of technologies ensures a robust, scalable, and highly responsive platform, leveraging industry-standard tools and cutting-edge AI capabilities.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0084" y="4485382"/>
            <a:ext cx="7916764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Frontend: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React JS (for dynamic UI and server-side rendering)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0084" y="4992291"/>
            <a:ext cx="7916764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Backend: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2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Node.JS 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(for efficiency and AI integration)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0084" y="5915174"/>
            <a:ext cx="7916764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Database: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MongoDB atlas(for flexible, scalable data storage)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0084" y="6422082"/>
            <a:ext cx="7916764" cy="79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AI: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OpenAI API (for advanced natural language processing and roadmap generation)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0084" y="7344965"/>
            <a:ext cx="7916764" cy="368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Export:</a:t>
            </a:r>
            <a:r>
              <a:rPr lang="en-US" sz="20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JSON (for versatile content sharing)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0084" y="7994897"/>
            <a:ext cx="7916764" cy="92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stack provides a solid foundation for delivering a feature-rich and performant user experience.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70678" y="2232423"/>
            <a:ext cx="4219129" cy="461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System Architecture Flow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470678" y="2986831"/>
            <a:ext cx="7916764" cy="3413820"/>
            <a:chOff x="0" y="0"/>
            <a:chExt cx="10555685" cy="4551760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10555732" cy="4551807"/>
            </a:xfrm>
            <a:custGeom>
              <a:avLst/>
              <a:gdLst/>
              <a:ahLst/>
              <a:cxnLst/>
              <a:rect l="l" t="t" r="r" b="b"/>
              <a:pathLst>
                <a:path w="10555732" h="4551807">
                  <a:moveTo>
                    <a:pt x="0" y="0"/>
                  </a:moveTo>
                  <a:lnTo>
                    <a:pt x="10555732" y="0"/>
                  </a:lnTo>
                  <a:lnTo>
                    <a:pt x="10555732" y="4551807"/>
                  </a:lnTo>
                  <a:lnTo>
                    <a:pt x="0" y="4551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" r="-46" b="1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0003465" y="5746685"/>
            <a:ext cx="1596453" cy="21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File &amp; Export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03465" y="4956441"/>
            <a:ext cx="1596453" cy="21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Video Integration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003465" y="4174180"/>
            <a:ext cx="1596453" cy="21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Roadmap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003465" y="3383935"/>
            <a:ext cx="1596453" cy="218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5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User Input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70678" y="6597849"/>
            <a:ext cx="7916764" cy="927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modular architecture allows for clear separation of concerns, facilitating development, testing, and future enhancements.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88516" y="719584"/>
            <a:ext cx="8536484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499"/>
              </a:lnSpc>
            </a:pPr>
            <a:r>
              <a:rPr lang="en-IN" sz="4000" dirty="0">
                <a:solidFill>
                  <a:schemeClr val="bg1"/>
                </a:solidFill>
              </a:rPr>
              <a:t>System Architecture – Roadmap Builder</a:t>
            </a:r>
            <a:r>
              <a:rPr lang="en-US" sz="4000" b="1" dirty="0">
                <a:solidFill>
                  <a:schemeClr val="bg1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708011" y="3948261"/>
            <a:ext cx="5600849" cy="37167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b="1" dirty="0">
                <a:solidFill>
                  <a:schemeClr val="bg1"/>
                </a:solidFill>
              </a:rPr>
              <a:t>System Architecture</a:t>
            </a:r>
            <a:r>
              <a:rPr lang="en-US" sz="2400" dirty="0">
                <a:solidFill>
                  <a:schemeClr val="bg1"/>
                </a:solidFill>
              </a:rPr>
              <a:t> of the </a:t>
            </a:r>
            <a:r>
              <a:rPr lang="en-US" sz="2400" i="1" dirty="0">
                <a:solidFill>
                  <a:schemeClr val="bg1"/>
                </a:solidFill>
              </a:rPr>
              <a:t>Roadmap Builder</a:t>
            </a:r>
            <a:r>
              <a:rPr lang="en-US" sz="2400" dirty="0">
                <a:solidFill>
                  <a:schemeClr val="bg1"/>
                </a:solidFill>
              </a:rPr>
              <a:t> describes how different components of the system — frontend, backend, database, and external services — interact to provide a seamless experience for users creating and exploring learning roadmaps.</a:t>
            </a:r>
          </a:p>
          <a:p>
            <a:r>
              <a:rPr lang="en-US" sz="2400" dirty="0">
                <a:solidFill>
                  <a:schemeClr val="bg1"/>
                </a:solidFill>
              </a:rPr>
              <a:t>It follows a </a:t>
            </a:r>
            <a:r>
              <a:rPr lang="en-US" sz="2400" b="1" dirty="0">
                <a:solidFill>
                  <a:schemeClr val="bg1"/>
                </a:solidFill>
              </a:rPr>
              <a:t>three-tier architecture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b="1" dirty="0">
                <a:solidFill>
                  <a:schemeClr val="bg1"/>
                </a:solidFill>
              </a:rPr>
              <a:t>Presentation Layer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bg1"/>
                </a:solidFill>
              </a:rPr>
              <a:t>Application Layer</a:t>
            </a:r>
            <a:r>
              <a:rPr lang="en-US" sz="2400" dirty="0">
                <a:solidFill>
                  <a:schemeClr val="bg1"/>
                </a:solidFill>
              </a:rPr>
              <a:t>, and </a:t>
            </a:r>
            <a:r>
              <a:rPr lang="en-US" sz="2400" b="1" dirty="0">
                <a:solidFill>
                  <a:schemeClr val="bg1"/>
                </a:solidFill>
              </a:rPr>
              <a:t>Data Layer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pPr algn="l">
              <a:lnSpc>
                <a:spcPts val="3500"/>
              </a:lnSpc>
            </a:pPr>
            <a:endParaRPr lang="en-US" sz="2187" dirty="0">
              <a:solidFill>
                <a:srgbClr val="E0E4E6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9892708-3FCE-B03A-CCCC-2ED9018B9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348" y="1880263"/>
            <a:ext cx="8145652" cy="73304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C755D-AB5D-4B4B-47C5-1A63089AF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0D4B37-BF48-8FC5-73F6-F5A645BA572A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C92ED6DD-8789-AC06-9AC2-D4D886F34E5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835F2D7-DD06-363B-18E9-9F05EE006D25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A80C20C-7092-2546-E93F-ED5737BAFC35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9F1D1DCB-1CA8-8208-42C6-0F9202EC750A}"/>
              </a:ext>
            </a:extLst>
          </p:cNvPr>
          <p:cNvSpPr txBox="1"/>
          <p:nvPr/>
        </p:nvSpPr>
        <p:spPr>
          <a:xfrm>
            <a:off x="988516" y="719584"/>
            <a:ext cx="8661946" cy="1139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8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Data Flow Diagram: 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3915625-056B-B98C-95B5-DBC340C0579A}"/>
              </a:ext>
            </a:extLst>
          </p:cNvPr>
          <p:cNvSpPr txBox="1"/>
          <p:nvPr/>
        </p:nvSpPr>
        <p:spPr>
          <a:xfrm>
            <a:off x="11708011" y="3948261"/>
            <a:ext cx="5600849" cy="3709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At the highest level, the system functions as a </a:t>
            </a: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central intelligence hub</a:t>
            </a: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, seamlessly bridging the user with external services. It orchestrates inputs, processes, and resources—leveraging AI engines, video content, and databases—to generate </a:t>
            </a: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personalized, dynamic, and interactive roadmaps</a:t>
            </a: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that adapt to user needs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4943526-ED79-5F72-22ED-1D305443F612}"/>
              </a:ext>
            </a:extLst>
          </p:cNvPr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1BD535-9049-C1CF-6465-6020E3A7B7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11" y="2705100"/>
            <a:ext cx="7975589" cy="613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044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8982" y="1086594"/>
            <a:ext cx="5862638" cy="780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Use Case Diagram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982" y="2105917"/>
            <a:ext cx="16950035" cy="659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5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diagram shows how the </a:t>
            </a:r>
            <a:r>
              <a:rPr lang="en-US" sz="15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User</a:t>
            </a:r>
            <a:r>
              <a:rPr lang="en-US" sz="15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interacts with the system. The user can ask AI questions, integrate video lectures, generate roadmaps, download JSON/PDF, upload files, and interact with files. These actions connect with external systems like the </a:t>
            </a:r>
            <a:r>
              <a:rPr lang="en-US" sz="15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AI Engine</a:t>
            </a:r>
            <a:r>
              <a:rPr lang="en-US" sz="15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, </a:t>
            </a:r>
            <a:r>
              <a:rPr lang="en-US" sz="15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YouTube API</a:t>
            </a:r>
            <a:r>
              <a:rPr lang="en-US" sz="15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, and the </a:t>
            </a:r>
            <a:r>
              <a:rPr lang="en-US" sz="1500" b="1" dirty="0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Database</a:t>
            </a:r>
            <a:r>
              <a:rPr lang="en-US" sz="1500" dirty="0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 to deliver personalized roadmaps and seamless file management.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2945" y="9210675"/>
            <a:ext cx="165109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368440-2FCE-32D8-4F17-54A8E03B4F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3004540"/>
            <a:ext cx="12801600" cy="701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8111" y="780306"/>
            <a:ext cx="16131779" cy="242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50"/>
              </a:lnSpc>
            </a:pPr>
            <a:r>
              <a:rPr lang="en-US" sz="743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Entity–Relationship Diagram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79931" y="3842594"/>
            <a:ext cx="6339334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Understanding the foundational data model, where entities represent key system components and relationships define their interdependencies.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177604" y="9210675"/>
            <a:ext cx="3157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8180F66-9451-CC99-1778-A5AA65377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815" y="3086100"/>
            <a:ext cx="8640381" cy="69256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82DB-3FE5-038E-37A8-6D61EC00A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1F48512-1E5A-B329-A762-C90341C1085E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78FAC94D-093C-7EC5-C631-897660276A7C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44EF07E-8147-CCE1-08D9-0828F07195CB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09129C0-27D1-D347-6D14-07843743A4E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D73CCF3-AFA7-C103-BE7F-FABD11B31BAC}"/>
              </a:ext>
            </a:extLst>
          </p:cNvPr>
          <p:cNvSpPr txBox="1"/>
          <p:nvPr/>
        </p:nvSpPr>
        <p:spPr>
          <a:xfrm>
            <a:off x="1078111" y="780306"/>
            <a:ext cx="16131779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250"/>
              </a:lnSpc>
            </a:pPr>
            <a:r>
              <a:rPr lang="en-IN" sz="8000" dirty="0">
                <a:solidFill>
                  <a:schemeClr val="bg1"/>
                </a:solidFill>
              </a:rPr>
              <a:t>UML Diagram </a:t>
            </a:r>
            <a:endParaRPr lang="en-US" sz="7437" b="1" dirty="0">
              <a:solidFill>
                <a:schemeClr val="bg1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7DE564-39FD-1FA8-4940-41BF3CA60F05}"/>
              </a:ext>
            </a:extLst>
          </p:cNvPr>
          <p:cNvSpPr txBox="1"/>
          <p:nvPr/>
        </p:nvSpPr>
        <p:spPr>
          <a:xfrm>
            <a:off x="10879931" y="3842594"/>
            <a:ext cx="6339334" cy="295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75"/>
              </a:lnSpc>
            </a:pPr>
            <a:r>
              <a:rPr lang="en-US" sz="2400" dirty="0">
                <a:solidFill>
                  <a:schemeClr val="bg1"/>
                </a:solidFill>
              </a:rPr>
              <a:t>A </a:t>
            </a:r>
            <a:r>
              <a:rPr lang="en-US" sz="2400" b="1" dirty="0">
                <a:solidFill>
                  <a:schemeClr val="bg1"/>
                </a:solidFill>
              </a:rPr>
              <a:t>Use Case Diagram</a:t>
            </a:r>
            <a:r>
              <a:rPr lang="en-US" sz="2400" dirty="0">
                <a:solidFill>
                  <a:schemeClr val="bg1"/>
                </a:solidFill>
              </a:rPr>
              <a:t> is a part of the </a:t>
            </a:r>
            <a:r>
              <a:rPr lang="en-US" sz="2400" b="1" dirty="0">
                <a:solidFill>
                  <a:schemeClr val="bg1"/>
                </a:solidFill>
              </a:rPr>
              <a:t>Unified Modeling Language (UML)</a:t>
            </a:r>
            <a:r>
              <a:rPr lang="en-US" sz="2400" dirty="0">
                <a:solidFill>
                  <a:schemeClr val="bg1"/>
                </a:solidFill>
              </a:rPr>
              <a:t> that represents the interaction between </a:t>
            </a:r>
            <a:r>
              <a:rPr lang="en-US" sz="2400" b="1" dirty="0">
                <a:solidFill>
                  <a:schemeClr val="bg1"/>
                </a:solidFill>
              </a:rPr>
              <a:t>users (actors)</a:t>
            </a:r>
            <a:r>
              <a:rPr lang="en-US" sz="2400" dirty="0">
                <a:solidFill>
                  <a:schemeClr val="bg1"/>
                </a:solidFill>
              </a:rPr>
              <a:t> and the </a:t>
            </a:r>
            <a:r>
              <a:rPr lang="en-US" sz="2400" b="1" dirty="0">
                <a:solidFill>
                  <a:schemeClr val="bg1"/>
                </a:solidFill>
              </a:rPr>
              <a:t>system</a:t>
            </a:r>
            <a:r>
              <a:rPr lang="en-US" sz="2400" dirty="0">
                <a:solidFill>
                  <a:schemeClr val="bg1"/>
                </a:solidFill>
              </a:rPr>
              <a:t> to achieve specific goals.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It focuses on </a:t>
            </a:r>
            <a:r>
              <a:rPr lang="en-US" sz="2400" b="1" dirty="0">
                <a:solidFill>
                  <a:schemeClr val="bg1"/>
                </a:solidFill>
              </a:rPr>
              <a:t>what</a:t>
            </a:r>
            <a:r>
              <a:rPr lang="en-US" sz="2400" dirty="0">
                <a:solidFill>
                  <a:schemeClr val="bg1"/>
                </a:solidFill>
              </a:rPr>
              <a:t> the system does from the user’s perspective, not </a:t>
            </a:r>
            <a:r>
              <a:rPr lang="en-US" sz="2400" b="1" dirty="0">
                <a:solidFill>
                  <a:schemeClr val="bg1"/>
                </a:solidFill>
              </a:rPr>
              <a:t>how</a:t>
            </a:r>
            <a:r>
              <a:rPr lang="en-US" sz="2400" dirty="0">
                <a:solidFill>
                  <a:schemeClr val="bg1"/>
                </a:solidFill>
              </a:rPr>
              <a:t> it does it.</a:t>
            </a:r>
            <a:endParaRPr lang="en-US" sz="2375" dirty="0">
              <a:solidFill>
                <a:schemeClr val="bg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05DA350-9CCE-DD51-E996-C7EA8788BCB6}"/>
              </a:ext>
            </a:extLst>
          </p:cNvPr>
          <p:cNvSpPr txBox="1"/>
          <p:nvPr/>
        </p:nvSpPr>
        <p:spPr>
          <a:xfrm>
            <a:off x="17177604" y="9210675"/>
            <a:ext cx="31579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C8E823-1301-FE51-E3A7-E4584E5A5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0815" y="3390900"/>
            <a:ext cx="8640381" cy="6038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55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025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3645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3561903" y="140577"/>
            <a:ext cx="10780514" cy="125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12"/>
              </a:lnSpc>
            </a:pPr>
            <a:r>
              <a:rPr lang="en-US" sz="7437" b="1">
                <a:solidFill>
                  <a:srgbClr val="0A988B"/>
                </a:solidFill>
                <a:latin typeface="Arimo Bold"/>
                <a:ea typeface="Arimo Bold"/>
                <a:cs typeface="Arimo Bold"/>
                <a:sym typeface="Arimo Bold"/>
              </a:rPr>
              <a:t>Key Entities &amp; Attributes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60996" y="4178648"/>
            <a:ext cx="16166009" cy="3729781"/>
            <a:chOff x="0" y="0"/>
            <a:chExt cx="21554678" cy="4973042"/>
          </a:xfrm>
        </p:grpSpPr>
        <p:sp>
          <p:nvSpPr>
            <p:cNvPr id="8" name="Freeform 8"/>
            <p:cNvSpPr/>
            <p:nvPr/>
          </p:nvSpPr>
          <p:spPr>
            <a:xfrm>
              <a:off x="25400" y="25400"/>
              <a:ext cx="21503767" cy="4922266"/>
            </a:xfrm>
            <a:custGeom>
              <a:avLst/>
              <a:gdLst/>
              <a:ahLst/>
              <a:cxnLst/>
              <a:rect l="l" t="t" r="r" b="b"/>
              <a:pathLst>
                <a:path w="21503767" h="4922266">
                  <a:moveTo>
                    <a:pt x="0" y="617220"/>
                  </a:moveTo>
                  <a:cubicBezTo>
                    <a:pt x="0" y="276352"/>
                    <a:pt x="278511" y="0"/>
                    <a:pt x="622046" y="0"/>
                  </a:cubicBezTo>
                  <a:lnTo>
                    <a:pt x="20881721" y="0"/>
                  </a:lnTo>
                  <a:cubicBezTo>
                    <a:pt x="21225256" y="0"/>
                    <a:pt x="21503767" y="276352"/>
                    <a:pt x="21503767" y="617220"/>
                  </a:cubicBezTo>
                  <a:lnTo>
                    <a:pt x="21503767" y="4305046"/>
                  </a:lnTo>
                  <a:cubicBezTo>
                    <a:pt x="21503767" y="4645914"/>
                    <a:pt x="21225256" y="4922266"/>
                    <a:pt x="20881721" y="4922266"/>
                  </a:cubicBezTo>
                  <a:lnTo>
                    <a:pt x="622046" y="4922266"/>
                  </a:lnTo>
                  <a:cubicBezTo>
                    <a:pt x="278511" y="4922266"/>
                    <a:pt x="0" y="4645914"/>
                    <a:pt x="0" y="4305046"/>
                  </a:cubicBezTo>
                  <a:close/>
                </a:path>
              </a:pathLst>
            </a:custGeom>
            <a:solidFill>
              <a:srgbClr val="1C3645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21554567" cy="4973066"/>
            </a:xfrm>
            <a:custGeom>
              <a:avLst/>
              <a:gdLst/>
              <a:ahLst/>
              <a:cxnLst/>
              <a:rect l="l" t="t" r="r" b="b"/>
              <a:pathLst>
                <a:path w="21554567" h="4973066">
                  <a:moveTo>
                    <a:pt x="0" y="642620"/>
                  </a:moveTo>
                  <a:cubicBezTo>
                    <a:pt x="0" y="287528"/>
                    <a:pt x="290068" y="0"/>
                    <a:pt x="647446" y="0"/>
                  </a:cubicBezTo>
                  <a:lnTo>
                    <a:pt x="20907121" y="0"/>
                  </a:lnTo>
                  <a:lnTo>
                    <a:pt x="20907121" y="25400"/>
                  </a:lnTo>
                  <a:lnTo>
                    <a:pt x="20907121" y="0"/>
                  </a:lnTo>
                  <a:cubicBezTo>
                    <a:pt x="21264499" y="0"/>
                    <a:pt x="21554567" y="287528"/>
                    <a:pt x="21554567" y="642620"/>
                  </a:cubicBezTo>
                  <a:lnTo>
                    <a:pt x="21529167" y="642620"/>
                  </a:lnTo>
                  <a:lnTo>
                    <a:pt x="21554567" y="642620"/>
                  </a:lnTo>
                  <a:lnTo>
                    <a:pt x="21554567" y="4330446"/>
                  </a:lnTo>
                  <a:lnTo>
                    <a:pt x="21529167" y="4330446"/>
                  </a:lnTo>
                  <a:lnTo>
                    <a:pt x="21554567" y="4330446"/>
                  </a:lnTo>
                  <a:cubicBezTo>
                    <a:pt x="21554567" y="4685538"/>
                    <a:pt x="21264499" y="4973066"/>
                    <a:pt x="20907121" y="4973066"/>
                  </a:cubicBezTo>
                  <a:lnTo>
                    <a:pt x="20907121" y="4947666"/>
                  </a:lnTo>
                  <a:lnTo>
                    <a:pt x="20907121" y="4973066"/>
                  </a:lnTo>
                  <a:lnTo>
                    <a:pt x="647446" y="4973066"/>
                  </a:lnTo>
                  <a:lnTo>
                    <a:pt x="647446" y="4947666"/>
                  </a:lnTo>
                  <a:lnTo>
                    <a:pt x="647446" y="4973066"/>
                  </a:lnTo>
                  <a:cubicBezTo>
                    <a:pt x="290068" y="4973066"/>
                    <a:pt x="0" y="4685538"/>
                    <a:pt x="0" y="4330446"/>
                  </a:cubicBezTo>
                  <a:lnTo>
                    <a:pt x="0" y="642620"/>
                  </a:lnTo>
                  <a:lnTo>
                    <a:pt x="25400" y="642620"/>
                  </a:lnTo>
                  <a:lnTo>
                    <a:pt x="0" y="642620"/>
                  </a:lnTo>
                  <a:moveTo>
                    <a:pt x="50800" y="642620"/>
                  </a:moveTo>
                  <a:lnTo>
                    <a:pt x="50800" y="4330446"/>
                  </a:lnTo>
                  <a:lnTo>
                    <a:pt x="25400" y="4330446"/>
                  </a:lnTo>
                  <a:lnTo>
                    <a:pt x="50800" y="4330446"/>
                  </a:lnTo>
                  <a:cubicBezTo>
                    <a:pt x="50800" y="4657090"/>
                    <a:pt x="317754" y="4922266"/>
                    <a:pt x="647446" y="4922266"/>
                  </a:cubicBezTo>
                  <a:lnTo>
                    <a:pt x="20907121" y="4922266"/>
                  </a:lnTo>
                  <a:cubicBezTo>
                    <a:pt x="21236812" y="4922266"/>
                    <a:pt x="21503767" y="4657090"/>
                    <a:pt x="21503767" y="4330446"/>
                  </a:cubicBezTo>
                  <a:lnTo>
                    <a:pt x="21503767" y="642620"/>
                  </a:lnTo>
                  <a:cubicBezTo>
                    <a:pt x="21503767" y="315976"/>
                    <a:pt x="21236812" y="50800"/>
                    <a:pt x="20907121" y="50800"/>
                  </a:cubicBezTo>
                  <a:lnTo>
                    <a:pt x="647446" y="50800"/>
                  </a:lnTo>
                  <a:lnTo>
                    <a:pt x="647446" y="25400"/>
                  </a:lnTo>
                  <a:lnTo>
                    <a:pt x="647446" y="50800"/>
                  </a:lnTo>
                  <a:cubicBezTo>
                    <a:pt x="317754" y="50800"/>
                    <a:pt x="50800" y="315976"/>
                    <a:pt x="50800" y="64262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18146" y="4235798"/>
            <a:ext cx="5350520" cy="3615481"/>
            <a:chOff x="0" y="0"/>
            <a:chExt cx="7134027" cy="48206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33971" cy="4820666"/>
            </a:xfrm>
            <a:custGeom>
              <a:avLst/>
              <a:gdLst/>
              <a:ahLst/>
              <a:cxnLst/>
              <a:rect l="l" t="t" r="r" b="b"/>
              <a:pathLst>
                <a:path w="7133971" h="4820666">
                  <a:moveTo>
                    <a:pt x="0" y="617220"/>
                  </a:moveTo>
                  <a:cubicBezTo>
                    <a:pt x="0" y="276352"/>
                    <a:pt x="276352" y="0"/>
                    <a:pt x="617220" y="0"/>
                  </a:cubicBezTo>
                  <a:lnTo>
                    <a:pt x="6516751" y="0"/>
                  </a:lnTo>
                  <a:cubicBezTo>
                    <a:pt x="6857619" y="0"/>
                    <a:pt x="7133971" y="276352"/>
                    <a:pt x="7133971" y="617220"/>
                  </a:cubicBezTo>
                  <a:lnTo>
                    <a:pt x="7133971" y="4203446"/>
                  </a:lnTo>
                  <a:cubicBezTo>
                    <a:pt x="7133971" y="4544314"/>
                    <a:pt x="6857619" y="4820666"/>
                    <a:pt x="6516751" y="4820666"/>
                  </a:cubicBezTo>
                  <a:lnTo>
                    <a:pt x="617220" y="4820666"/>
                  </a:lnTo>
                  <a:cubicBezTo>
                    <a:pt x="276352" y="4820666"/>
                    <a:pt x="0" y="4544314"/>
                    <a:pt x="0" y="4203446"/>
                  </a:cubicBezTo>
                  <a:close/>
                </a:path>
              </a:pathLst>
            </a:custGeom>
            <a:solidFill>
              <a:srgbClr val="1C3645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426666" y="4506218"/>
            <a:ext cx="411480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User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6666" y="5139035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user_id (PK)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6666" y="5740747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name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666" y="6342460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email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68666" y="4235798"/>
            <a:ext cx="5350520" cy="3615481"/>
            <a:chOff x="0" y="0"/>
            <a:chExt cx="7134027" cy="48206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33971" cy="4820666"/>
            </a:xfrm>
            <a:custGeom>
              <a:avLst/>
              <a:gdLst/>
              <a:ahLst/>
              <a:cxnLst/>
              <a:rect l="l" t="t" r="r" b="b"/>
              <a:pathLst>
                <a:path w="7133971" h="4820666">
                  <a:moveTo>
                    <a:pt x="0" y="0"/>
                  </a:moveTo>
                  <a:lnTo>
                    <a:pt x="7133971" y="0"/>
                  </a:lnTo>
                  <a:lnTo>
                    <a:pt x="7133971" y="4820666"/>
                  </a:lnTo>
                  <a:lnTo>
                    <a:pt x="0" y="4820666"/>
                  </a:lnTo>
                  <a:close/>
                </a:path>
              </a:pathLst>
            </a:custGeom>
            <a:solidFill>
              <a:srgbClr val="1C3645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468666" y="4235798"/>
            <a:ext cx="38100" cy="3615481"/>
            <a:chOff x="0" y="0"/>
            <a:chExt cx="50800" cy="482064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0800" cy="4820666"/>
            </a:xfrm>
            <a:custGeom>
              <a:avLst/>
              <a:gdLst/>
              <a:ahLst/>
              <a:cxnLst/>
              <a:rect l="l" t="t" r="r" b="b"/>
              <a:pathLst>
                <a:path w="50800" h="482066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4795266"/>
                  </a:lnTo>
                  <a:cubicBezTo>
                    <a:pt x="50800" y="4809236"/>
                    <a:pt x="39370" y="4820666"/>
                    <a:pt x="25400" y="4820666"/>
                  </a:cubicBezTo>
                  <a:cubicBezTo>
                    <a:pt x="11430" y="4820666"/>
                    <a:pt x="0" y="4809236"/>
                    <a:pt x="0" y="4795266"/>
                  </a:cubicBezTo>
                  <a:close/>
                </a:path>
              </a:pathLst>
            </a:custGeom>
            <a:solidFill>
              <a:srgbClr val="0FC3C0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7278290" y="4506218"/>
            <a:ext cx="380747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Roadmap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40191" y="5139035"/>
            <a:ext cx="3807470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roadmap_id (PK)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40191" y="5740747"/>
            <a:ext cx="3807470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title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240191" y="6342460"/>
            <a:ext cx="3807470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description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240191" y="6944171"/>
            <a:ext cx="3807470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created_date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063854" y="5638651"/>
            <a:ext cx="809625" cy="809625"/>
            <a:chOff x="0" y="0"/>
            <a:chExt cx="1079500" cy="1079500"/>
          </a:xfrm>
        </p:grpSpPr>
        <p:sp>
          <p:nvSpPr>
            <p:cNvPr id="26" name="Freeform 26"/>
            <p:cNvSpPr/>
            <p:nvPr/>
          </p:nvSpPr>
          <p:spPr>
            <a:xfrm>
              <a:off x="25400" y="254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514350"/>
                  </a:moveTo>
                  <a:cubicBezTo>
                    <a:pt x="0" y="230251"/>
                    <a:pt x="230251" y="0"/>
                    <a:pt x="514350" y="0"/>
                  </a:cubicBezTo>
                  <a:cubicBezTo>
                    <a:pt x="798449" y="0"/>
                    <a:pt x="1028700" y="230251"/>
                    <a:pt x="1028700" y="514350"/>
                  </a:cubicBezTo>
                  <a:cubicBezTo>
                    <a:pt x="1028700" y="798449"/>
                    <a:pt x="798449" y="1028700"/>
                    <a:pt x="514350" y="1028700"/>
                  </a:cubicBezTo>
                  <a:cubicBezTo>
                    <a:pt x="230251" y="1028700"/>
                    <a:pt x="0" y="798449"/>
                    <a:pt x="0" y="514350"/>
                  </a:cubicBezTo>
                  <a:close/>
                </a:path>
              </a:pathLst>
            </a:custGeom>
            <a:solidFill>
              <a:srgbClr val="1C3645">
                <a:alpha val="56078"/>
              </a:srgbClr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079500" cy="1079500"/>
            </a:xfrm>
            <a:custGeom>
              <a:avLst/>
              <a:gdLst/>
              <a:ahLst/>
              <a:cxnLst/>
              <a:rect l="l" t="t" r="r" b="b"/>
              <a:pathLst>
                <a:path w="1079500" h="1079500">
                  <a:moveTo>
                    <a:pt x="0" y="539750"/>
                  </a:moveTo>
                  <a:cubicBezTo>
                    <a:pt x="0" y="241681"/>
                    <a:pt x="241681" y="0"/>
                    <a:pt x="539750" y="0"/>
                  </a:cubicBezTo>
                  <a:cubicBezTo>
                    <a:pt x="547370" y="0"/>
                    <a:pt x="554609" y="3429"/>
                    <a:pt x="559435" y="9271"/>
                  </a:cubicBezTo>
                  <a:lnTo>
                    <a:pt x="539750" y="25400"/>
                  </a:lnTo>
                  <a:lnTo>
                    <a:pt x="539750" y="0"/>
                  </a:lnTo>
                  <a:lnTo>
                    <a:pt x="539750" y="25400"/>
                  </a:lnTo>
                  <a:lnTo>
                    <a:pt x="539750" y="0"/>
                  </a:lnTo>
                  <a:cubicBezTo>
                    <a:pt x="837819" y="0"/>
                    <a:pt x="1079500" y="241681"/>
                    <a:pt x="1079500" y="539750"/>
                  </a:cubicBezTo>
                  <a:cubicBezTo>
                    <a:pt x="1079500" y="549402"/>
                    <a:pt x="1074039" y="558165"/>
                    <a:pt x="1065403" y="562483"/>
                  </a:cubicBezTo>
                  <a:lnTo>
                    <a:pt x="1054100" y="539750"/>
                  </a:lnTo>
                  <a:lnTo>
                    <a:pt x="1079500" y="539750"/>
                  </a:lnTo>
                  <a:cubicBezTo>
                    <a:pt x="1079500" y="837819"/>
                    <a:pt x="837819" y="1079500"/>
                    <a:pt x="539750" y="1079500"/>
                  </a:cubicBezTo>
                  <a:lnTo>
                    <a:pt x="539750" y="1054100"/>
                  </a:lnTo>
                  <a:lnTo>
                    <a:pt x="539750" y="1028700"/>
                  </a:lnTo>
                  <a:lnTo>
                    <a:pt x="539750" y="1054100"/>
                  </a:lnTo>
                  <a:lnTo>
                    <a:pt x="539750" y="1079500"/>
                  </a:lnTo>
                  <a:cubicBezTo>
                    <a:pt x="241681" y="1079500"/>
                    <a:pt x="0" y="837819"/>
                    <a:pt x="0" y="539750"/>
                  </a:cubicBezTo>
                  <a:lnTo>
                    <a:pt x="25400" y="539750"/>
                  </a:lnTo>
                  <a:lnTo>
                    <a:pt x="0" y="539750"/>
                  </a:lnTo>
                  <a:moveTo>
                    <a:pt x="50800" y="539750"/>
                  </a:moveTo>
                  <a:lnTo>
                    <a:pt x="25400" y="539750"/>
                  </a:lnTo>
                  <a:lnTo>
                    <a:pt x="50800" y="539750"/>
                  </a:lnTo>
                  <a:cubicBezTo>
                    <a:pt x="50800" y="809752"/>
                    <a:pt x="269748" y="1028700"/>
                    <a:pt x="539750" y="1028700"/>
                  </a:cubicBezTo>
                  <a:cubicBezTo>
                    <a:pt x="553720" y="1028700"/>
                    <a:pt x="565150" y="1040130"/>
                    <a:pt x="565150" y="1054100"/>
                  </a:cubicBezTo>
                  <a:cubicBezTo>
                    <a:pt x="565150" y="1068070"/>
                    <a:pt x="553720" y="1079500"/>
                    <a:pt x="539750" y="1079500"/>
                  </a:cubicBezTo>
                  <a:cubicBezTo>
                    <a:pt x="525780" y="1079500"/>
                    <a:pt x="514350" y="1068070"/>
                    <a:pt x="514350" y="1054100"/>
                  </a:cubicBezTo>
                  <a:cubicBezTo>
                    <a:pt x="514350" y="1040130"/>
                    <a:pt x="525780" y="1028700"/>
                    <a:pt x="539750" y="1028700"/>
                  </a:cubicBezTo>
                  <a:cubicBezTo>
                    <a:pt x="809752" y="1028700"/>
                    <a:pt x="1028700" y="809752"/>
                    <a:pt x="1028700" y="539750"/>
                  </a:cubicBezTo>
                  <a:cubicBezTo>
                    <a:pt x="1028700" y="530098"/>
                    <a:pt x="1034161" y="521335"/>
                    <a:pt x="1042797" y="517017"/>
                  </a:cubicBezTo>
                  <a:lnTo>
                    <a:pt x="1054100" y="539750"/>
                  </a:lnTo>
                  <a:lnTo>
                    <a:pt x="1028700" y="539750"/>
                  </a:lnTo>
                  <a:cubicBezTo>
                    <a:pt x="1028700" y="269748"/>
                    <a:pt x="809752" y="50800"/>
                    <a:pt x="539750" y="50800"/>
                  </a:cubicBezTo>
                  <a:cubicBezTo>
                    <a:pt x="532130" y="50800"/>
                    <a:pt x="524891" y="47371"/>
                    <a:pt x="520065" y="41529"/>
                  </a:cubicBezTo>
                  <a:lnTo>
                    <a:pt x="539750" y="25400"/>
                  </a:lnTo>
                  <a:lnTo>
                    <a:pt x="539750" y="50800"/>
                  </a:lnTo>
                  <a:cubicBezTo>
                    <a:pt x="269748" y="50800"/>
                    <a:pt x="50800" y="269748"/>
                    <a:pt x="50800" y="539750"/>
                  </a:cubicBezTo>
                  <a:close/>
                </a:path>
              </a:pathLst>
            </a:custGeom>
            <a:solidFill>
              <a:srgbClr val="0FC3C0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6275785" y="5802362"/>
            <a:ext cx="385762" cy="482204"/>
            <a:chOff x="0" y="0"/>
            <a:chExt cx="514350" cy="642938"/>
          </a:xfrm>
        </p:grpSpPr>
        <p:sp>
          <p:nvSpPr>
            <p:cNvPr id="29" name="Freeform 29" descr="preencoded.png"/>
            <p:cNvSpPr/>
            <p:nvPr/>
          </p:nvSpPr>
          <p:spPr>
            <a:xfrm>
              <a:off x="0" y="0"/>
              <a:ext cx="514350" cy="643001"/>
            </a:xfrm>
            <a:custGeom>
              <a:avLst/>
              <a:gdLst/>
              <a:ahLst/>
              <a:cxnLst/>
              <a:rect l="l" t="t" r="r" b="b"/>
              <a:pathLst>
                <a:path w="514350" h="643001">
                  <a:moveTo>
                    <a:pt x="0" y="0"/>
                  </a:moveTo>
                  <a:lnTo>
                    <a:pt x="514350" y="0"/>
                  </a:lnTo>
                  <a:lnTo>
                    <a:pt x="514350" y="643001"/>
                  </a:lnTo>
                  <a:lnTo>
                    <a:pt x="0" y="643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5" r="-245" b="9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1819185" y="4235798"/>
            <a:ext cx="5350520" cy="3615481"/>
            <a:chOff x="0" y="0"/>
            <a:chExt cx="7134027" cy="482064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33971" cy="4820666"/>
            </a:xfrm>
            <a:custGeom>
              <a:avLst/>
              <a:gdLst/>
              <a:ahLst/>
              <a:cxnLst/>
              <a:rect l="l" t="t" r="r" b="b"/>
              <a:pathLst>
                <a:path w="7133971" h="4820666">
                  <a:moveTo>
                    <a:pt x="0" y="0"/>
                  </a:moveTo>
                  <a:lnTo>
                    <a:pt x="7133971" y="0"/>
                  </a:lnTo>
                  <a:lnTo>
                    <a:pt x="7133971" y="4820666"/>
                  </a:lnTo>
                  <a:lnTo>
                    <a:pt x="0" y="4820666"/>
                  </a:lnTo>
                  <a:close/>
                </a:path>
              </a:pathLst>
            </a:custGeom>
            <a:solidFill>
              <a:srgbClr val="1C3645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1819185" y="4235798"/>
            <a:ext cx="38100" cy="3615481"/>
            <a:chOff x="0" y="0"/>
            <a:chExt cx="50800" cy="482064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0800" cy="4820666"/>
            </a:xfrm>
            <a:custGeom>
              <a:avLst/>
              <a:gdLst/>
              <a:ahLst/>
              <a:cxnLst/>
              <a:rect l="l" t="t" r="r" b="b"/>
              <a:pathLst>
                <a:path w="50800" h="4820666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4795266"/>
                  </a:lnTo>
                  <a:cubicBezTo>
                    <a:pt x="50800" y="4809236"/>
                    <a:pt x="39370" y="4820666"/>
                    <a:pt x="25400" y="4820666"/>
                  </a:cubicBezTo>
                  <a:cubicBezTo>
                    <a:pt x="11430" y="4820666"/>
                    <a:pt x="0" y="4809236"/>
                    <a:pt x="0" y="4795266"/>
                  </a:cubicBezTo>
                  <a:close/>
                </a:path>
              </a:pathLst>
            </a:custGeom>
            <a:solidFill>
              <a:srgbClr val="1D8DCD"/>
            </a:solidFill>
          </p:spPr>
        </p:sp>
      </p:grpSp>
      <p:sp>
        <p:nvSpPr>
          <p:cNvPr id="34" name="TextBox 34"/>
          <p:cNvSpPr txBox="1"/>
          <p:nvPr/>
        </p:nvSpPr>
        <p:spPr>
          <a:xfrm>
            <a:off x="12590710" y="4506218"/>
            <a:ext cx="411480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Topic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90710" y="5139035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topic_id (PK)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590710" y="5740747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name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90710" y="6342460"/>
            <a:ext cx="4270474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difficulty_level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414372" y="5638651"/>
            <a:ext cx="809625" cy="809625"/>
            <a:chOff x="0" y="0"/>
            <a:chExt cx="1079500" cy="1079500"/>
          </a:xfrm>
        </p:grpSpPr>
        <p:sp>
          <p:nvSpPr>
            <p:cNvPr id="39" name="Freeform 39"/>
            <p:cNvSpPr/>
            <p:nvPr/>
          </p:nvSpPr>
          <p:spPr>
            <a:xfrm>
              <a:off x="25400" y="25400"/>
              <a:ext cx="1028700" cy="1028700"/>
            </a:xfrm>
            <a:custGeom>
              <a:avLst/>
              <a:gdLst/>
              <a:ahLst/>
              <a:cxnLst/>
              <a:rect l="l" t="t" r="r" b="b"/>
              <a:pathLst>
                <a:path w="1028700" h="1028700">
                  <a:moveTo>
                    <a:pt x="0" y="514350"/>
                  </a:moveTo>
                  <a:cubicBezTo>
                    <a:pt x="0" y="230251"/>
                    <a:pt x="230251" y="0"/>
                    <a:pt x="514350" y="0"/>
                  </a:cubicBezTo>
                  <a:cubicBezTo>
                    <a:pt x="798449" y="0"/>
                    <a:pt x="1028700" y="230251"/>
                    <a:pt x="1028700" y="514350"/>
                  </a:cubicBezTo>
                  <a:cubicBezTo>
                    <a:pt x="1028700" y="798449"/>
                    <a:pt x="798449" y="1028700"/>
                    <a:pt x="514350" y="1028700"/>
                  </a:cubicBezTo>
                  <a:cubicBezTo>
                    <a:pt x="230251" y="1028700"/>
                    <a:pt x="0" y="798449"/>
                    <a:pt x="0" y="514350"/>
                  </a:cubicBezTo>
                  <a:close/>
                </a:path>
              </a:pathLst>
            </a:custGeom>
            <a:solidFill>
              <a:srgbClr val="1C3645">
                <a:alpha val="56078"/>
              </a:srgbClr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1079500" cy="1079500"/>
            </a:xfrm>
            <a:custGeom>
              <a:avLst/>
              <a:gdLst/>
              <a:ahLst/>
              <a:cxnLst/>
              <a:rect l="l" t="t" r="r" b="b"/>
              <a:pathLst>
                <a:path w="1079500" h="1079500">
                  <a:moveTo>
                    <a:pt x="0" y="539750"/>
                  </a:moveTo>
                  <a:cubicBezTo>
                    <a:pt x="0" y="241681"/>
                    <a:pt x="241681" y="0"/>
                    <a:pt x="539750" y="0"/>
                  </a:cubicBezTo>
                  <a:cubicBezTo>
                    <a:pt x="547370" y="0"/>
                    <a:pt x="554609" y="3429"/>
                    <a:pt x="559435" y="9271"/>
                  </a:cubicBezTo>
                  <a:lnTo>
                    <a:pt x="539750" y="25400"/>
                  </a:lnTo>
                  <a:lnTo>
                    <a:pt x="539750" y="0"/>
                  </a:lnTo>
                  <a:lnTo>
                    <a:pt x="539750" y="25400"/>
                  </a:lnTo>
                  <a:lnTo>
                    <a:pt x="539750" y="0"/>
                  </a:lnTo>
                  <a:cubicBezTo>
                    <a:pt x="837819" y="0"/>
                    <a:pt x="1079500" y="241681"/>
                    <a:pt x="1079500" y="539750"/>
                  </a:cubicBezTo>
                  <a:cubicBezTo>
                    <a:pt x="1079500" y="549402"/>
                    <a:pt x="1074039" y="558165"/>
                    <a:pt x="1065403" y="562483"/>
                  </a:cubicBezTo>
                  <a:lnTo>
                    <a:pt x="1054100" y="539750"/>
                  </a:lnTo>
                  <a:lnTo>
                    <a:pt x="1079500" y="539750"/>
                  </a:lnTo>
                  <a:cubicBezTo>
                    <a:pt x="1079500" y="837819"/>
                    <a:pt x="837819" y="1079500"/>
                    <a:pt x="539750" y="1079500"/>
                  </a:cubicBezTo>
                  <a:lnTo>
                    <a:pt x="539750" y="1054100"/>
                  </a:lnTo>
                  <a:lnTo>
                    <a:pt x="539750" y="1028700"/>
                  </a:lnTo>
                  <a:lnTo>
                    <a:pt x="539750" y="1054100"/>
                  </a:lnTo>
                  <a:lnTo>
                    <a:pt x="539750" y="1079500"/>
                  </a:lnTo>
                  <a:cubicBezTo>
                    <a:pt x="241681" y="1079500"/>
                    <a:pt x="0" y="837819"/>
                    <a:pt x="0" y="539750"/>
                  </a:cubicBezTo>
                  <a:lnTo>
                    <a:pt x="25400" y="539750"/>
                  </a:lnTo>
                  <a:lnTo>
                    <a:pt x="0" y="539750"/>
                  </a:lnTo>
                  <a:moveTo>
                    <a:pt x="50800" y="539750"/>
                  </a:moveTo>
                  <a:lnTo>
                    <a:pt x="25400" y="539750"/>
                  </a:lnTo>
                  <a:lnTo>
                    <a:pt x="50800" y="539750"/>
                  </a:lnTo>
                  <a:cubicBezTo>
                    <a:pt x="50800" y="809752"/>
                    <a:pt x="269748" y="1028700"/>
                    <a:pt x="539750" y="1028700"/>
                  </a:cubicBezTo>
                  <a:cubicBezTo>
                    <a:pt x="553720" y="1028700"/>
                    <a:pt x="565150" y="1040130"/>
                    <a:pt x="565150" y="1054100"/>
                  </a:cubicBezTo>
                  <a:cubicBezTo>
                    <a:pt x="565150" y="1068070"/>
                    <a:pt x="553720" y="1079500"/>
                    <a:pt x="539750" y="1079500"/>
                  </a:cubicBezTo>
                  <a:cubicBezTo>
                    <a:pt x="525780" y="1079500"/>
                    <a:pt x="514350" y="1068070"/>
                    <a:pt x="514350" y="1054100"/>
                  </a:cubicBezTo>
                  <a:cubicBezTo>
                    <a:pt x="514350" y="1040130"/>
                    <a:pt x="525780" y="1028700"/>
                    <a:pt x="539750" y="1028700"/>
                  </a:cubicBezTo>
                  <a:cubicBezTo>
                    <a:pt x="809752" y="1028700"/>
                    <a:pt x="1028700" y="809752"/>
                    <a:pt x="1028700" y="539750"/>
                  </a:cubicBezTo>
                  <a:cubicBezTo>
                    <a:pt x="1028700" y="530098"/>
                    <a:pt x="1034161" y="521335"/>
                    <a:pt x="1042797" y="517017"/>
                  </a:cubicBezTo>
                  <a:lnTo>
                    <a:pt x="1054100" y="539750"/>
                  </a:lnTo>
                  <a:lnTo>
                    <a:pt x="1028700" y="539750"/>
                  </a:lnTo>
                  <a:cubicBezTo>
                    <a:pt x="1028700" y="269748"/>
                    <a:pt x="809752" y="50800"/>
                    <a:pt x="539750" y="50800"/>
                  </a:cubicBezTo>
                  <a:cubicBezTo>
                    <a:pt x="532130" y="50800"/>
                    <a:pt x="524891" y="47371"/>
                    <a:pt x="520065" y="41529"/>
                  </a:cubicBezTo>
                  <a:lnTo>
                    <a:pt x="539750" y="25400"/>
                  </a:lnTo>
                  <a:lnTo>
                    <a:pt x="539750" y="50800"/>
                  </a:lnTo>
                  <a:cubicBezTo>
                    <a:pt x="269748" y="50800"/>
                    <a:pt x="50800" y="269748"/>
                    <a:pt x="50800" y="539750"/>
                  </a:cubicBezTo>
                  <a:close/>
                </a:path>
              </a:pathLst>
            </a:custGeom>
            <a:solidFill>
              <a:srgbClr val="1D8DCD"/>
            </a:solidFill>
          </p:spPr>
        </p:sp>
      </p:grpSp>
      <p:grpSp>
        <p:nvGrpSpPr>
          <p:cNvPr id="41" name="Group 41"/>
          <p:cNvGrpSpPr>
            <a:grpSpLocks noChangeAspect="1"/>
          </p:cNvGrpSpPr>
          <p:nvPr/>
        </p:nvGrpSpPr>
        <p:grpSpPr>
          <a:xfrm>
            <a:off x="11626304" y="5802362"/>
            <a:ext cx="385762" cy="482204"/>
            <a:chOff x="0" y="0"/>
            <a:chExt cx="514350" cy="642938"/>
          </a:xfrm>
        </p:grpSpPr>
        <p:sp>
          <p:nvSpPr>
            <p:cNvPr id="42" name="Freeform 42" descr="preencoded.png"/>
            <p:cNvSpPr/>
            <p:nvPr/>
          </p:nvSpPr>
          <p:spPr>
            <a:xfrm>
              <a:off x="0" y="0"/>
              <a:ext cx="514350" cy="643001"/>
            </a:xfrm>
            <a:custGeom>
              <a:avLst/>
              <a:gdLst/>
              <a:ahLst/>
              <a:cxnLst/>
              <a:rect l="l" t="t" r="r" b="b"/>
              <a:pathLst>
                <a:path w="514350" h="643001">
                  <a:moveTo>
                    <a:pt x="0" y="0"/>
                  </a:moveTo>
                  <a:lnTo>
                    <a:pt x="514350" y="0"/>
                  </a:lnTo>
                  <a:lnTo>
                    <a:pt x="514350" y="643001"/>
                  </a:lnTo>
                  <a:lnTo>
                    <a:pt x="0" y="643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45" r="-245" b="9"/>
              </a:stretch>
            </a:blipFill>
          </p:spPr>
        </p:sp>
      </p:grpSp>
      <p:sp>
        <p:nvSpPr>
          <p:cNvPr id="43" name="TextBox 43"/>
          <p:cNvSpPr txBox="1"/>
          <p:nvPr/>
        </p:nvSpPr>
        <p:spPr>
          <a:xfrm>
            <a:off x="17199245" y="9210675"/>
            <a:ext cx="27251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60996" y="3278535"/>
            <a:ext cx="5208389" cy="3729781"/>
            <a:chOff x="0" y="0"/>
            <a:chExt cx="6944518" cy="4973042"/>
          </a:xfrm>
        </p:grpSpPr>
        <p:sp>
          <p:nvSpPr>
            <p:cNvPr id="7" name="Freeform 7"/>
            <p:cNvSpPr/>
            <p:nvPr/>
          </p:nvSpPr>
          <p:spPr>
            <a:xfrm>
              <a:off x="25400" y="25400"/>
              <a:ext cx="6893814" cy="4922266"/>
            </a:xfrm>
            <a:custGeom>
              <a:avLst/>
              <a:gdLst/>
              <a:ahLst/>
              <a:cxnLst/>
              <a:rect l="l" t="t" r="r" b="b"/>
              <a:pathLst>
                <a:path w="6893814" h="4922266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6649212" y="0"/>
                  </a:lnTo>
                  <a:cubicBezTo>
                    <a:pt x="6784340" y="0"/>
                    <a:pt x="6893814" y="109220"/>
                    <a:pt x="6893814" y="243840"/>
                  </a:cubicBezTo>
                  <a:lnTo>
                    <a:pt x="6893814" y="4678426"/>
                  </a:lnTo>
                  <a:cubicBezTo>
                    <a:pt x="6893814" y="4813046"/>
                    <a:pt x="6784340" y="4922266"/>
                    <a:pt x="6649212" y="4922266"/>
                  </a:cubicBezTo>
                  <a:lnTo>
                    <a:pt x="244602" y="4922266"/>
                  </a:lnTo>
                  <a:cubicBezTo>
                    <a:pt x="109474" y="4922266"/>
                    <a:pt x="0" y="4813046"/>
                    <a:pt x="0" y="4678426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6944614" cy="4973066"/>
            </a:xfrm>
            <a:custGeom>
              <a:avLst/>
              <a:gdLst/>
              <a:ahLst/>
              <a:cxnLst/>
              <a:rect l="l" t="t" r="r" b="b"/>
              <a:pathLst>
                <a:path w="6944614" h="4973066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6674612" y="0"/>
                  </a:lnTo>
                  <a:lnTo>
                    <a:pt x="6674612" y="25400"/>
                  </a:lnTo>
                  <a:lnTo>
                    <a:pt x="6674612" y="0"/>
                  </a:lnTo>
                  <a:cubicBezTo>
                    <a:pt x="6823583" y="0"/>
                    <a:pt x="6944614" y="120523"/>
                    <a:pt x="6944614" y="269240"/>
                  </a:cubicBezTo>
                  <a:lnTo>
                    <a:pt x="6919214" y="269240"/>
                  </a:lnTo>
                  <a:lnTo>
                    <a:pt x="6944614" y="269240"/>
                  </a:lnTo>
                  <a:lnTo>
                    <a:pt x="6944614" y="4703826"/>
                  </a:lnTo>
                  <a:lnTo>
                    <a:pt x="6919214" y="4703826"/>
                  </a:lnTo>
                  <a:lnTo>
                    <a:pt x="6944614" y="4703826"/>
                  </a:lnTo>
                  <a:cubicBezTo>
                    <a:pt x="6944614" y="4852543"/>
                    <a:pt x="6823710" y="4973066"/>
                    <a:pt x="6674612" y="4973066"/>
                  </a:cubicBezTo>
                  <a:lnTo>
                    <a:pt x="6674612" y="4947666"/>
                  </a:lnTo>
                  <a:lnTo>
                    <a:pt x="6674612" y="4973066"/>
                  </a:lnTo>
                  <a:lnTo>
                    <a:pt x="270002" y="4973066"/>
                  </a:lnTo>
                  <a:lnTo>
                    <a:pt x="270002" y="4947666"/>
                  </a:lnTo>
                  <a:lnTo>
                    <a:pt x="270002" y="4973066"/>
                  </a:lnTo>
                  <a:cubicBezTo>
                    <a:pt x="120904" y="4973066"/>
                    <a:pt x="0" y="4852543"/>
                    <a:pt x="0" y="47038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703826"/>
                  </a:lnTo>
                  <a:lnTo>
                    <a:pt x="25400" y="4703826"/>
                  </a:lnTo>
                  <a:lnTo>
                    <a:pt x="50800" y="4703826"/>
                  </a:lnTo>
                  <a:cubicBezTo>
                    <a:pt x="50800" y="4824349"/>
                    <a:pt x="148844" y="4922266"/>
                    <a:pt x="270002" y="4922266"/>
                  </a:cubicBezTo>
                  <a:lnTo>
                    <a:pt x="6674612" y="4922266"/>
                  </a:lnTo>
                  <a:cubicBezTo>
                    <a:pt x="6795770" y="4922266"/>
                    <a:pt x="6893814" y="4824349"/>
                    <a:pt x="6893814" y="4703826"/>
                  </a:cubicBezTo>
                  <a:lnTo>
                    <a:pt x="6893814" y="269240"/>
                  </a:lnTo>
                  <a:cubicBezTo>
                    <a:pt x="6893814" y="148717"/>
                    <a:pt x="6795770" y="50800"/>
                    <a:pt x="6674612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41946" y="3297585"/>
            <a:ext cx="152400" cy="3691681"/>
            <a:chOff x="0" y="0"/>
            <a:chExt cx="203200" cy="49222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3200" cy="4922266"/>
            </a:xfrm>
            <a:custGeom>
              <a:avLst/>
              <a:gdLst/>
              <a:ahLst/>
              <a:cxnLst/>
              <a:rect l="l" t="t" r="r" b="b"/>
              <a:pathLst>
                <a:path w="203200" h="492226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820666"/>
                  </a:lnTo>
                  <a:cubicBezTo>
                    <a:pt x="203200" y="4876800"/>
                    <a:pt x="157734" y="4922266"/>
                    <a:pt x="101600" y="4922266"/>
                  </a:cubicBezTo>
                  <a:cubicBezTo>
                    <a:pt x="45466" y="4922266"/>
                    <a:pt x="0" y="4876800"/>
                    <a:pt x="0" y="4820666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540966" y="3606105"/>
            <a:ext cx="411480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Resource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40966" y="4238922"/>
            <a:ext cx="4362747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resource_id (PK)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0966" y="4840635"/>
            <a:ext cx="4362747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title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40966" y="5442347"/>
            <a:ext cx="4362747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link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40966" y="6044059"/>
            <a:ext cx="4362747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duration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39805" y="3278535"/>
            <a:ext cx="5208389" cy="3729781"/>
            <a:chOff x="0" y="0"/>
            <a:chExt cx="6944518" cy="4973042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6893814" cy="4922266"/>
            </a:xfrm>
            <a:custGeom>
              <a:avLst/>
              <a:gdLst/>
              <a:ahLst/>
              <a:cxnLst/>
              <a:rect l="l" t="t" r="r" b="b"/>
              <a:pathLst>
                <a:path w="6893814" h="4922266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6649212" y="0"/>
                  </a:lnTo>
                  <a:cubicBezTo>
                    <a:pt x="6784340" y="0"/>
                    <a:pt x="6893814" y="109220"/>
                    <a:pt x="6893814" y="243840"/>
                  </a:cubicBezTo>
                  <a:lnTo>
                    <a:pt x="6893814" y="4678426"/>
                  </a:lnTo>
                  <a:cubicBezTo>
                    <a:pt x="6893814" y="4813046"/>
                    <a:pt x="6784340" y="4922266"/>
                    <a:pt x="6649212" y="4922266"/>
                  </a:cubicBezTo>
                  <a:lnTo>
                    <a:pt x="244602" y="4922266"/>
                  </a:lnTo>
                  <a:cubicBezTo>
                    <a:pt x="109474" y="4922266"/>
                    <a:pt x="0" y="4813046"/>
                    <a:pt x="0" y="4678426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6944614" cy="4973066"/>
            </a:xfrm>
            <a:custGeom>
              <a:avLst/>
              <a:gdLst/>
              <a:ahLst/>
              <a:cxnLst/>
              <a:rect l="l" t="t" r="r" b="b"/>
              <a:pathLst>
                <a:path w="6944614" h="4973066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6674612" y="0"/>
                  </a:lnTo>
                  <a:lnTo>
                    <a:pt x="6674612" y="25400"/>
                  </a:lnTo>
                  <a:lnTo>
                    <a:pt x="6674612" y="0"/>
                  </a:lnTo>
                  <a:cubicBezTo>
                    <a:pt x="6823583" y="0"/>
                    <a:pt x="6944614" y="120523"/>
                    <a:pt x="6944614" y="269240"/>
                  </a:cubicBezTo>
                  <a:lnTo>
                    <a:pt x="6919214" y="269240"/>
                  </a:lnTo>
                  <a:lnTo>
                    <a:pt x="6944614" y="269240"/>
                  </a:lnTo>
                  <a:lnTo>
                    <a:pt x="6944614" y="4703826"/>
                  </a:lnTo>
                  <a:lnTo>
                    <a:pt x="6919214" y="4703826"/>
                  </a:lnTo>
                  <a:lnTo>
                    <a:pt x="6944614" y="4703826"/>
                  </a:lnTo>
                  <a:cubicBezTo>
                    <a:pt x="6944614" y="4852543"/>
                    <a:pt x="6823710" y="4973066"/>
                    <a:pt x="6674612" y="4973066"/>
                  </a:cubicBezTo>
                  <a:lnTo>
                    <a:pt x="6674612" y="4947666"/>
                  </a:lnTo>
                  <a:lnTo>
                    <a:pt x="6674612" y="4973066"/>
                  </a:lnTo>
                  <a:lnTo>
                    <a:pt x="270002" y="4973066"/>
                  </a:lnTo>
                  <a:lnTo>
                    <a:pt x="270002" y="4947666"/>
                  </a:lnTo>
                  <a:lnTo>
                    <a:pt x="270002" y="4973066"/>
                  </a:lnTo>
                  <a:cubicBezTo>
                    <a:pt x="120904" y="4973066"/>
                    <a:pt x="0" y="4852543"/>
                    <a:pt x="0" y="47038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703826"/>
                  </a:lnTo>
                  <a:lnTo>
                    <a:pt x="25400" y="4703826"/>
                  </a:lnTo>
                  <a:lnTo>
                    <a:pt x="50800" y="4703826"/>
                  </a:lnTo>
                  <a:cubicBezTo>
                    <a:pt x="50800" y="4824349"/>
                    <a:pt x="148844" y="4922266"/>
                    <a:pt x="270002" y="4922266"/>
                  </a:cubicBezTo>
                  <a:lnTo>
                    <a:pt x="6674612" y="4922266"/>
                  </a:lnTo>
                  <a:cubicBezTo>
                    <a:pt x="6795770" y="4922266"/>
                    <a:pt x="6893814" y="4824349"/>
                    <a:pt x="6893814" y="4703826"/>
                  </a:cubicBezTo>
                  <a:lnTo>
                    <a:pt x="6893814" y="269240"/>
                  </a:lnTo>
                  <a:cubicBezTo>
                    <a:pt x="6893814" y="148717"/>
                    <a:pt x="6795770" y="50800"/>
                    <a:pt x="6674612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520755" y="3297585"/>
            <a:ext cx="152400" cy="3691681"/>
            <a:chOff x="0" y="0"/>
            <a:chExt cx="203200" cy="4922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3200" cy="4922266"/>
            </a:xfrm>
            <a:custGeom>
              <a:avLst/>
              <a:gdLst/>
              <a:ahLst/>
              <a:cxnLst/>
              <a:rect l="l" t="t" r="r" b="b"/>
              <a:pathLst>
                <a:path w="203200" h="492226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820666"/>
                  </a:lnTo>
                  <a:cubicBezTo>
                    <a:pt x="203200" y="4876800"/>
                    <a:pt x="157734" y="4922266"/>
                    <a:pt x="101600" y="4922266"/>
                  </a:cubicBezTo>
                  <a:cubicBezTo>
                    <a:pt x="45466" y="4922266"/>
                    <a:pt x="0" y="4876800"/>
                    <a:pt x="0" y="4820666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7019776" y="3606105"/>
            <a:ext cx="411480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File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19776" y="4238922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file_id (PK)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19776" y="4840635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filename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019776" y="5442347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type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9776" y="6044059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uploaded_date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2018615" y="3278535"/>
            <a:ext cx="5208389" cy="3729781"/>
            <a:chOff x="0" y="0"/>
            <a:chExt cx="6944518" cy="4973042"/>
          </a:xfrm>
        </p:grpSpPr>
        <p:sp>
          <p:nvSpPr>
            <p:cNvPr id="27" name="Freeform 27"/>
            <p:cNvSpPr/>
            <p:nvPr/>
          </p:nvSpPr>
          <p:spPr>
            <a:xfrm>
              <a:off x="25400" y="25400"/>
              <a:ext cx="6893814" cy="4922266"/>
            </a:xfrm>
            <a:custGeom>
              <a:avLst/>
              <a:gdLst/>
              <a:ahLst/>
              <a:cxnLst/>
              <a:rect l="l" t="t" r="r" b="b"/>
              <a:pathLst>
                <a:path w="6893814" h="4922266">
                  <a:moveTo>
                    <a:pt x="0" y="243840"/>
                  </a:moveTo>
                  <a:cubicBezTo>
                    <a:pt x="0" y="109220"/>
                    <a:pt x="109474" y="0"/>
                    <a:pt x="244602" y="0"/>
                  </a:cubicBezTo>
                  <a:lnTo>
                    <a:pt x="6649212" y="0"/>
                  </a:lnTo>
                  <a:cubicBezTo>
                    <a:pt x="6784340" y="0"/>
                    <a:pt x="6893814" y="109220"/>
                    <a:pt x="6893814" y="243840"/>
                  </a:cubicBezTo>
                  <a:lnTo>
                    <a:pt x="6893814" y="4678426"/>
                  </a:lnTo>
                  <a:cubicBezTo>
                    <a:pt x="6893814" y="4813046"/>
                    <a:pt x="6784340" y="4922266"/>
                    <a:pt x="6649212" y="4922266"/>
                  </a:cubicBezTo>
                  <a:lnTo>
                    <a:pt x="244602" y="4922266"/>
                  </a:lnTo>
                  <a:cubicBezTo>
                    <a:pt x="109474" y="4922266"/>
                    <a:pt x="0" y="4813046"/>
                    <a:pt x="0" y="4678426"/>
                  </a:cubicBez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6944614" cy="4973066"/>
            </a:xfrm>
            <a:custGeom>
              <a:avLst/>
              <a:gdLst/>
              <a:ahLst/>
              <a:cxnLst/>
              <a:rect l="l" t="t" r="r" b="b"/>
              <a:pathLst>
                <a:path w="6944614" h="4973066">
                  <a:moveTo>
                    <a:pt x="0" y="269240"/>
                  </a:moveTo>
                  <a:cubicBezTo>
                    <a:pt x="0" y="120523"/>
                    <a:pt x="120904" y="0"/>
                    <a:pt x="270002" y="0"/>
                  </a:cubicBezTo>
                  <a:lnTo>
                    <a:pt x="6674612" y="0"/>
                  </a:lnTo>
                  <a:lnTo>
                    <a:pt x="6674612" y="25400"/>
                  </a:lnTo>
                  <a:lnTo>
                    <a:pt x="6674612" y="0"/>
                  </a:lnTo>
                  <a:cubicBezTo>
                    <a:pt x="6823583" y="0"/>
                    <a:pt x="6944614" y="120523"/>
                    <a:pt x="6944614" y="269240"/>
                  </a:cubicBezTo>
                  <a:lnTo>
                    <a:pt x="6919214" y="269240"/>
                  </a:lnTo>
                  <a:lnTo>
                    <a:pt x="6944614" y="269240"/>
                  </a:lnTo>
                  <a:lnTo>
                    <a:pt x="6944614" y="4703826"/>
                  </a:lnTo>
                  <a:lnTo>
                    <a:pt x="6919214" y="4703826"/>
                  </a:lnTo>
                  <a:lnTo>
                    <a:pt x="6944614" y="4703826"/>
                  </a:lnTo>
                  <a:cubicBezTo>
                    <a:pt x="6944614" y="4852543"/>
                    <a:pt x="6823710" y="4973066"/>
                    <a:pt x="6674612" y="4973066"/>
                  </a:cubicBezTo>
                  <a:lnTo>
                    <a:pt x="6674612" y="4947666"/>
                  </a:lnTo>
                  <a:lnTo>
                    <a:pt x="6674612" y="4973066"/>
                  </a:lnTo>
                  <a:lnTo>
                    <a:pt x="270002" y="4973066"/>
                  </a:lnTo>
                  <a:lnTo>
                    <a:pt x="270002" y="4947666"/>
                  </a:lnTo>
                  <a:lnTo>
                    <a:pt x="270002" y="4973066"/>
                  </a:lnTo>
                  <a:cubicBezTo>
                    <a:pt x="120904" y="4973066"/>
                    <a:pt x="0" y="4852543"/>
                    <a:pt x="0" y="4703826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4703826"/>
                  </a:lnTo>
                  <a:lnTo>
                    <a:pt x="25400" y="4703826"/>
                  </a:lnTo>
                  <a:lnTo>
                    <a:pt x="50800" y="4703826"/>
                  </a:lnTo>
                  <a:cubicBezTo>
                    <a:pt x="50800" y="4824349"/>
                    <a:pt x="148844" y="4922266"/>
                    <a:pt x="270002" y="4922266"/>
                  </a:cubicBezTo>
                  <a:lnTo>
                    <a:pt x="6674612" y="4922266"/>
                  </a:lnTo>
                  <a:cubicBezTo>
                    <a:pt x="6795770" y="4922266"/>
                    <a:pt x="6893814" y="4824349"/>
                    <a:pt x="6893814" y="4703826"/>
                  </a:cubicBezTo>
                  <a:lnTo>
                    <a:pt x="6893814" y="269240"/>
                  </a:lnTo>
                  <a:cubicBezTo>
                    <a:pt x="6893814" y="148717"/>
                    <a:pt x="6795770" y="50800"/>
                    <a:pt x="6674612" y="50800"/>
                  </a:cubicBezTo>
                  <a:lnTo>
                    <a:pt x="270002" y="50800"/>
                  </a:lnTo>
                  <a:lnTo>
                    <a:pt x="270002" y="25400"/>
                  </a:lnTo>
                  <a:lnTo>
                    <a:pt x="270002" y="50800"/>
                  </a:lnTo>
                  <a:cubicBezTo>
                    <a:pt x="148844" y="50800"/>
                    <a:pt x="50800" y="148717"/>
                    <a:pt x="50800" y="269240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1999565" y="3297585"/>
            <a:ext cx="152400" cy="3691681"/>
            <a:chOff x="0" y="0"/>
            <a:chExt cx="203200" cy="492224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3200" cy="4922266"/>
            </a:xfrm>
            <a:custGeom>
              <a:avLst/>
              <a:gdLst/>
              <a:ahLst/>
              <a:cxnLst/>
              <a:rect l="l" t="t" r="r" b="b"/>
              <a:pathLst>
                <a:path w="203200" h="4922266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4820666"/>
                  </a:lnTo>
                  <a:cubicBezTo>
                    <a:pt x="203200" y="4876800"/>
                    <a:pt x="157734" y="4922266"/>
                    <a:pt x="101600" y="4922266"/>
                  </a:cubicBezTo>
                  <a:cubicBezTo>
                    <a:pt x="45466" y="4922266"/>
                    <a:pt x="0" y="4876800"/>
                    <a:pt x="0" y="4820666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498586" y="3606105"/>
            <a:ext cx="4114800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Export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98586" y="4238922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export_id (PK)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98586" y="4840635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format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498586" y="5442347"/>
            <a:ext cx="4362748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875"/>
              </a:lnSpc>
              <a:buFont typeface="Arial"/>
              <a:buChar char="•"/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generated_date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196840" y="9210675"/>
            <a:ext cx="277320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0154" y="578495"/>
            <a:ext cx="11085611" cy="114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sz="68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Relationships &amp; Cardinality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0154" y="2786955"/>
            <a:ext cx="16307692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Crow's foot notation clarifies the powerful one-to-many connections that enable a rich, interconnected learning experience.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0154" y="3812232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User creates Roadmap (1:N)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0154" y="4519315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single user can create multiple unique roadmaps.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154" y="5226397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Roadmap contains Topics (1:N)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154" y="5933480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Each roadmap is composed of several distinct topics.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8658" y="3812232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Topic linked with Resource (1:N)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8658" y="4519315"/>
            <a:ext cx="7808714" cy="100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topic can be supported by numerous relevant learning resources.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8658" y="5678984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Roadmap interacts with File (1:N)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8658" y="6386066"/>
            <a:ext cx="7808714" cy="1000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roadmap can reference or be informed by multiple uploaded user files.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98658" y="7545735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Roadmap generates Export (1:N)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98658" y="8252818"/>
            <a:ext cx="7808714" cy="547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single roadmap can be exported in various formats over time.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192832" y="9210675"/>
            <a:ext cx="285335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231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474470" y="527894"/>
            <a:ext cx="5338911" cy="478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812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Initial Implementation Progress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533400" y="1357611"/>
            <a:ext cx="9045328" cy="8303864"/>
            <a:chOff x="0" y="0"/>
            <a:chExt cx="13233797" cy="1323379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233781" cy="13233781"/>
            </a:xfrm>
            <a:custGeom>
              <a:avLst/>
              <a:gdLst/>
              <a:ahLst/>
              <a:cxnLst/>
              <a:rect l="l" t="t" r="r" b="b"/>
              <a:pathLst>
                <a:path w="13233781" h="13233781">
                  <a:moveTo>
                    <a:pt x="0" y="0"/>
                  </a:moveTo>
                  <a:lnTo>
                    <a:pt x="13233781" y="0"/>
                  </a:lnTo>
                  <a:lnTo>
                    <a:pt x="13233781" y="13233781"/>
                  </a:lnTo>
                  <a:lnTo>
                    <a:pt x="0" y="132337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08272" y="11557099"/>
            <a:ext cx="9925347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1562" i="1">
                <a:solidFill>
                  <a:srgbClr val="E0E4E6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Prototype: Roadmap Visualization UI with AI Q&amp;A and Export Options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36958" y="5016848"/>
            <a:ext cx="2248792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Key Achievements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36958" y="5471518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Functional roadmap visualization UI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36958" y="5866060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Basic AI Q&amp;A demonstration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36958" y="6260604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Initial JSON/PDF export capabilities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36958" y="6815286"/>
            <a:ext cx="2248792" cy="309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750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Next Steps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36958" y="7269956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Developing advanced personalization features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136958" y="7664500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Implementing collaborative learning functionalities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36958" y="8059042"/>
            <a:ext cx="6452295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5645" lvl="1" indent="-117822" algn="l">
              <a:lnSpc>
                <a:spcPts val="2499"/>
              </a:lnSpc>
              <a:buFont typeface="Arial"/>
              <a:buChar char="•"/>
            </a:pPr>
            <a:r>
              <a:rPr lang="en-US" sz="15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Conducting user testing and gathering feedback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189626" y="9210675"/>
            <a:ext cx="291747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2582" y="934641"/>
            <a:ext cx="6330554" cy="563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Research Outcome &amp; Innovation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582" y="1943249"/>
            <a:ext cx="5295900" cy="3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Core Innovation: Unifying Disparate 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2582" y="2409974"/>
            <a:ext cx="8250585" cy="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AI-Powered Roadmap Builder stands as a unique solution by being the </a:t>
            </a:r>
            <a:r>
              <a:rPr lang="en-US" sz="1437" b="1">
                <a:solidFill>
                  <a:srgbClr val="E0E4E6"/>
                </a:solidFill>
                <a:latin typeface="Barlow Bold"/>
                <a:ea typeface="Barlow Bold"/>
                <a:cs typeface="Barlow Bold"/>
                <a:sym typeface="Barlow Bold"/>
              </a:rPr>
              <a:t>first tool to seamlessly combine</a:t>
            </a: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2582" y="3185964"/>
            <a:ext cx="8250585" cy="36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Dynamic AI-driven roadmap generation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2582" y="3555057"/>
            <a:ext cx="8250585" cy="36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Interactive AI Q&amp;A capabilities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582" y="3924151"/>
            <a:ext cx="8250585" cy="36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Direct integration with YouTube video lectures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62582" y="4293245"/>
            <a:ext cx="8250585" cy="36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Robust file interaction and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582" y="4662339"/>
            <a:ext cx="8250585" cy="36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6793" lvl="1" indent="-108396" algn="l">
              <a:lnSpc>
                <a:spcPts val="2374"/>
              </a:lnSpc>
              <a:buFont typeface="Arial"/>
              <a:buChar char="•"/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Structured content export functionality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2582" y="5135464"/>
            <a:ext cx="8250585" cy="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This comprehensive integration addresses the fragmented nature of current learning tools, offering an unparalleled, unified learning ecosystem.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384357" y="1943249"/>
            <a:ext cx="3218855" cy="344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937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Future Research Directions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74832" y="2490788"/>
            <a:ext cx="8269635" cy="2250876"/>
            <a:chOff x="0" y="0"/>
            <a:chExt cx="11026180" cy="3001168"/>
          </a:xfrm>
        </p:grpSpPr>
        <p:sp>
          <p:nvSpPr>
            <p:cNvPr id="17" name="Freeform 17"/>
            <p:cNvSpPr/>
            <p:nvPr/>
          </p:nvSpPr>
          <p:spPr>
            <a:xfrm>
              <a:off x="12700" y="12700"/>
              <a:ext cx="11000740" cy="2975737"/>
            </a:xfrm>
            <a:custGeom>
              <a:avLst/>
              <a:gdLst/>
              <a:ahLst/>
              <a:cxnLst/>
              <a:rect l="l" t="t" r="r" b="b"/>
              <a:pathLst>
                <a:path w="11000740" h="2975737">
                  <a:moveTo>
                    <a:pt x="0" y="378587"/>
                  </a:moveTo>
                  <a:cubicBezTo>
                    <a:pt x="0" y="169545"/>
                    <a:pt x="170561" y="0"/>
                    <a:pt x="381000" y="0"/>
                  </a:cubicBezTo>
                  <a:lnTo>
                    <a:pt x="10619740" y="0"/>
                  </a:lnTo>
                  <a:cubicBezTo>
                    <a:pt x="10830179" y="0"/>
                    <a:pt x="11000740" y="169545"/>
                    <a:pt x="11000740" y="378587"/>
                  </a:cubicBezTo>
                  <a:lnTo>
                    <a:pt x="11000740" y="2597150"/>
                  </a:lnTo>
                  <a:cubicBezTo>
                    <a:pt x="11000740" y="2806319"/>
                    <a:pt x="10830179" y="2975737"/>
                    <a:pt x="10619740" y="2975737"/>
                  </a:cubicBezTo>
                  <a:lnTo>
                    <a:pt x="381000" y="2975737"/>
                  </a:lnTo>
                  <a:cubicBezTo>
                    <a:pt x="170561" y="2975737"/>
                    <a:pt x="0" y="2806192"/>
                    <a:pt x="0" y="2597150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1026140" cy="3001137"/>
            </a:xfrm>
            <a:custGeom>
              <a:avLst/>
              <a:gdLst/>
              <a:ahLst/>
              <a:cxnLst/>
              <a:rect l="l" t="t" r="r" b="b"/>
              <a:pathLst>
                <a:path w="11026140" h="3001137">
                  <a:moveTo>
                    <a:pt x="0" y="391287"/>
                  </a:moveTo>
                  <a:cubicBezTo>
                    <a:pt x="0" y="175133"/>
                    <a:pt x="176276" y="0"/>
                    <a:pt x="393700" y="0"/>
                  </a:cubicBezTo>
                  <a:lnTo>
                    <a:pt x="10632440" y="0"/>
                  </a:lnTo>
                  <a:lnTo>
                    <a:pt x="10632440" y="12700"/>
                  </a:lnTo>
                  <a:lnTo>
                    <a:pt x="10632440" y="0"/>
                  </a:lnTo>
                  <a:cubicBezTo>
                    <a:pt x="10849737" y="0"/>
                    <a:pt x="11026140" y="175133"/>
                    <a:pt x="11026140" y="391287"/>
                  </a:cubicBezTo>
                  <a:lnTo>
                    <a:pt x="11013440" y="391287"/>
                  </a:lnTo>
                  <a:lnTo>
                    <a:pt x="11026140" y="391287"/>
                  </a:lnTo>
                  <a:lnTo>
                    <a:pt x="11026140" y="2609850"/>
                  </a:lnTo>
                  <a:lnTo>
                    <a:pt x="11013440" y="2609850"/>
                  </a:lnTo>
                  <a:lnTo>
                    <a:pt x="11026140" y="2609850"/>
                  </a:lnTo>
                  <a:cubicBezTo>
                    <a:pt x="11026140" y="2826004"/>
                    <a:pt x="10849864" y="3001137"/>
                    <a:pt x="10632440" y="3001137"/>
                  </a:cubicBezTo>
                  <a:lnTo>
                    <a:pt x="10632440" y="2988437"/>
                  </a:lnTo>
                  <a:lnTo>
                    <a:pt x="10632440" y="3001137"/>
                  </a:lnTo>
                  <a:lnTo>
                    <a:pt x="393700" y="3001137"/>
                  </a:lnTo>
                  <a:lnTo>
                    <a:pt x="393700" y="2988437"/>
                  </a:lnTo>
                  <a:lnTo>
                    <a:pt x="393700" y="3001137"/>
                  </a:lnTo>
                  <a:cubicBezTo>
                    <a:pt x="176403" y="3001137"/>
                    <a:pt x="0" y="2826004"/>
                    <a:pt x="0" y="2609850"/>
                  </a:cubicBezTo>
                  <a:lnTo>
                    <a:pt x="0" y="391287"/>
                  </a:lnTo>
                  <a:lnTo>
                    <a:pt x="12700" y="391287"/>
                  </a:lnTo>
                  <a:lnTo>
                    <a:pt x="0" y="391287"/>
                  </a:lnTo>
                  <a:moveTo>
                    <a:pt x="25400" y="391287"/>
                  </a:moveTo>
                  <a:lnTo>
                    <a:pt x="25400" y="2609850"/>
                  </a:lnTo>
                  <a:lnTo>
                    <a:pt x="12700" y="2609850"/>
                  </a:lnTo>
                  <a:lnTo>
                    <a:pt x="25400" y="2609850"/>
                  </a:lnTo>
                  <a:cubicBezTo>
                    <a:pt x="25400" y="2811907"/>
                    <a:pt x="190246" y="2975737"/>
                    <a:pt x="393700" y="2975737"/>
                  </a:cubicBezTo>
                  <a:lnTo>
                    <a:pt x="10632440" y="2975737"/>
                  </a:lnTo>
                  <a:cubicBezTo>
                    <a:pt x="10835894" y="2975737"/>
                    <a:pt x="11000740" y="2811780"/>
                    <a:pt x="11000740" y="2609850"/>
                  </a:cubicBezTo>
                  <a:lnTo>
                    <a:pt x="11000740" y="391287"/>
                  </a:lnTo>
                  <a:cubicBezTo>
                    <a:pt x="11000740" y="189357"/>
                    <a:pt x="10836021" y="25400"/>
                    <a:pt x="10632440" y="25400"/>
                  </a:cubicBezTo>
                  <a:lnTo>
                    <a:pt x="393700" y="25400"/>
                  </a:lnTo>
                  <a:lnTo>
                    <a:pt x="393700" y="12700"/>
                  </a:lnTo>
                  <a:lnTo>
                    <a:pt x="393700" y="25400"/>
                  </a:lnTo>
                  <a:cubicBezTo>
                    <a:pt x="190246" y="25400"/>
                    <a:pt x="25400" y="189357"/>
                    <a:pt x="25400" y="391287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592716" y="2708672"/>
            <a:ext cx="567929" cy="567929"/>
            <a:chOff x="0" y="0"/>
            <a:chExt cx="757238" cy="7572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57301" cy="757301"/>
            </a:xfrm>
            <a:custGeom>
              <a:avLst/>
              <a:gdLst/>
              <a:ahLst/>
              <a:cxnLst/>
              <a:rect l="l" t="t" r="r" b="b"/>
              <a:pathLst>
                <a:path w="757301" h="757301">
                  <a:moveTo>
                    <a:pt x="0" y="378587"/>
                  </a:moveTo>
                  <a:cubicBezTo>
                    <a:pt x="0" y="169545"/>
                    <a:pt x="169545" y="0"/>
                    <a:pt x="378587" y="0"/>
                  </a:cubicBezTo>
                  <a:cubicBezTo>
                    <a:pt x="587629" y="0"/>
                    <a:pt x="757301" y="169545"/>
                    <a:pt x="757301" y="378587"/>
                  </a:cubicBezTo>
                  <a:cubicBezTo>
                    <a:pt x="757301" y="587629"/>
                    <a:pt x="587756" y="757301"/>
                    <a:pt x="378587" y="757301"/>
                  </a:cubicBezTo>
                  <a:cubicBezTo>
                    <a:pt x="169418" y="757301"/>
                    <a:pt x="0" y="587756"/>
                    <a:pt x="0" y="378587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9748838" y="2832944"/>
            <a:ext cx="255537" cy="319385"/>
            <a:chOff x="0" y="0"/>
            <a:chExt cx="340717" cy="425847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340741" cy="425831"/>
            </a:xfrm>
            <a:custGeom>
              <a:avLst/>
              <a:gdLst/>
              <a:ahLst/>
              <a:cxnLst/>
              <a:rect l="l" t="t" r="r" b="b"/>
              <a:pathLst>
                <a:path w="340741" h="425831">
                  <a:moveTo>
                    <a:pt x="0" y="0"/>
                  </a:moveTo>
                  <a:lnTo>
                    <a:pt x="340741" y="0"/>
                  </a:lnTo>
                  <a:lnTo>
                    <a:pt x="340741" y="425831"/>
                  </a:lnTo>
                  <a:lnTo>
                    <a:pt x="0" y="425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76" r="7" b="-379"/>
              </a:stretch>
            </a:blipFill>
          </p:spPr>
        </p:sp>
      </p:grpSp>
      <p:sp>
        <p:nvSpPr>
          <p:cNvPr id="23" name="TextBox 23"/>
          <p:cNvSpPr txBox="1"/>
          <p:nvPr/>
        </p:nvSpPr>
        <p:spPr>
          <a:xfrm>
            <a:off x="9592716" y="3437334"/>
            <a:ext cx="2103388" cy="29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Adaptive AI Tutors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92716" y="3851374"/>
            <a:ext cx="7833866" cy="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Developing AI agents that provide personalised, real-time tutoring based on user learning patterns.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374832" y="4911924"/>
            <a:ext cx="8269635" cy="2250876"/>
            <a:chOff x="0" y="0"/>
            <a:chExt cx="11026180" cy="3001168"/>
          </a:xfrm>
        </p:grpSpPr>
        <p:sp>
          <p:nvSpPr>
            <p:cNvPr id="26" name="Freeform 26"/>
            <p:cNvSpPr/>
            <p:nvPr/>
          </p:nvSpPr>
          <p:spPr>
            <a:xfrm>
              <a:off x="12700" y="12700"/>
              <a:ext cx="11000740" cy="2975737"/>
            </a:xfrm>
            <a:custGeom>
              <a:avLst/>
              <a:gdLst/>
              <a:ahLst/>
              <a:cxnLst/>
              <a:rect l="l" t="t" r="r" b="b"/>
              <a:pathLst>
                <a:path w="11000740" h="2975737">
                  <a:moveTo>
                    <a:pt x="0" y="378587"/>
                  </a:moveTo>
                  <a:cubicBezTo>
                    <a:pt x="0" y="169545"/>
                    <a:pt x="170561" y="0"/>
                    <a:pt x="381000" y="0"/>
                  </a:cubicBezTo>
                  <a:lnTo>
                    <a:pt x="10619740" y="0"/>
                  </a:lnTo>
                  <a:cubicBezTo>
                    <a:pt x="10830179" y="0"/>
                    <a:pt x="11000740" y="169545"/>
                    <a:pt x="11000740" y="378587"/>
                  </a:cubicBezTo>
                  <a:lnTo>
                    <a:pt x="11000740" y="2597150"/>
                  </a:lnTo>
                  <a:cubicBezTo>
                    <a:pt x="11000740" y="2806319"/>
                    <a:pt x="10830179" y="2975737"/>
                    <a:pt x="10619740" y="2975737"/>
                  </a:cubicBezTo>
                  <a:lnTo>
                    <a:pt x="381000" y="2975737"/>
                  </a:lnTo>
                  <a:cubicBezTo>
                    <a:pt x="170561" y="2975737"/>
                    <a:pt x="0" y="2806192"/>
                    <a:pt x="0" y="2597150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11026140" cy="3001137"/>
            </a:xfrm>
            <a:custGeom>
              <a:avLst/>
              <a:gdLst/>
              <a:ahLst/>
              <a:cxnLst/>
              <a:rect l="l" t="t" r="r" b="b"/>
              <a:pathLst>
                <a:path w="11026140" h="3001137">
                  <a:moveTo>
                    <a:pt x="0" y="391287"/>
                  </a:moveTo>
                  <a:cubicBezTo>
                    <a:pt x="0" y="175133"/>
                    <a:pt x="176276" y="0"/>
                    <a:pt x="393700" y="0"/>
                  </a:cubicBezTo>
                  <a:lnTo>
                    <a:pt x="10632440" y="0"/>
                  </a:lnTo>
                  <a:lnTo>
                    <a:pt x="10632440" y="12700"/>
                  </a:lnTo>
                  <a:lnTo>
                    <a:pt x="10632440" y="0"/>
                  </a:lnTo>
                  <a:cubicBezTo>
                    <a:pt x="10849737" y="0"/>
                    <a:pt x="11026140" y="175133"/>
                    <a:pt x="11026140" y="391287"/>
                  </a:cubicBezTo>
                  <a:lnTo>
                    <a:pt x="11013440" y="391287"/>
                  </a:lnTo>
                  <a:lnTo>
                    <a:pt x="11026140" y="391287"/>
                  </a:lnTo>
                  <a:lnTo>
                    <a:pt x="11026140" y="2609850"/>
                  </a:lnTo>
                  <a:lnTo>
                    <a:pt x="11013440" y="2609850"/>
                  </a:lnTo>
                  <a:lnTo>
                    <a:pt x="11026140" y="2609850"/>
                  </a:lnTo>
                  <a:cubicBezTo>
                    <a:pt x="11026140" y="2826004"/>
                    <a:pt x="10849864" y="3001137"/>
                    <a:pt x="10632440" y="3001137"/>
                  </a:cubicBezTo>
                  <a:lnTo>
                    <a:pt x="10632440" y="2988437"/>
                  </a:lnTo>
                  <a:lnTo>
                    <a:pt x="10632440" y="3001137"/>
                  </a:lnTo>
                  <a:lnTo>
                    <a:pt x="393700" y="3001137"/>
                  </a:lnTo>
                  <a:lnTo>
                    <a:pt x="393700" y="2988437"/>
                  </a:lnTo>
                  <a:lnTo>
                    <a:pt x="393700" y="3001137"/>
                  </a:lnTo>
                  <a:cubicBezTo>
                    <a:pt x="176403" y="3001137"/>
                    <a:pt x="0" y="2826004"/>
                    <a:pt x="0" y="2609850"/>
                  </a:cubicBezTo>
                  <a:lnTo>
                    <a:pt x="0" y="391287"/>
                  </a:lnTo>
                  <a:lnTo>
                    <a:pt x="12700" y="391287"/>
                  </a:lnTo>
                  <a:lnTo>
                    <a:pt x="0" y="391287"/>
                  </a:lnTo>
                  <a:moveTo>
                    <a:pt x="25400" y="391287"/>
                  </a:moveTo>
                  <a:lnTo>
                    <a:pt x="25400" y="2609850"/>
                  </a:lnTo>
                  <a:lnTo>
                    <a:pt x="12700" y="2609850"/>
                  </a:lnTo>
                  <a:lnTo>
                    <a:pt x="25400" y="2609850"/>
                  </a:lnTo>
                  <a:cubicBezTo>
                    <a:pt x="25400" y="2811907"/>
                    <a:pt x="190246" y="2975737"/>
                    <a:pt x="393700" y="2975737"/>
                  </a:cubicBezTo>
                  <a:lnTo>
                    <a:pt x="10632440" y="2975737"/>
                  </a:lnTo>
                  <a:cubicBezTo>
                    <a:pt x="10835894" y="2975737"/>
                    <a:pt x="11000740" y="2811780"/>
                    <a:pt x="11000740" y="2609850"/>
                  </a:cubicBezTo>
                  <a:lnTo>
                    <a:pt x="11000740" y="391287"/>
                  </a:lnTo>
                  <a:cubicBezTo>
                    <a:pt x="11000740" y="189357"/>
                    <a:pt x="10836021" y="25400"/>
                    <a:pt x="10632440" y="25400"/>
                  </a:cubicBezTo>
                  <a:lnTo>
                    <a:pt x="393700" y="25400"/>
                  </a:lnTo>
                  <a:lnTo>
                    <a:pt x="393700" y="12700"/>
                  </a:lnTo>
                  <a:lnTo>
                    <a:pt x="393700" y="25400"/>
                  </a:lnTo>
                  <a:cubicBezTo>
                    <a:pt x="190246" y="25400"/>
                    <a:pt x="25400" y="189357"/>
                    <a:pt x="25400" y="391287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592716" y="5129807"/>
            <a:ext cx="567929" cy="567929"/>
            <a:chOff x="0" y="0"/>
            <a:chExt cx="757238" cy="75723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57301" cy="757301"/>
            </a:xfrm>
            <a:custGeom>
              <a:avLst/>
              <a:gdLst/>
              <a:ahLst/>
              <a:cxnLst/>
              <a:rect l="l" t="t" r="r" b="b"/>
              <a:pathLst>
                <a:path w="757301" h="757301">
                  <a:moveTo>
                    <a:pt x="0" y="378587"/>
                  </a:moveTo>
                  <a:cubicBezTo>
                    <a:pt x="0" y="169545"/>
                    <a:pt x="169545" y="0"/>
                    <a:pt x="378587" y="0"/>
                  </a:cubicBezTo>
                  <a:cubicBezTo>
                    <a:pt x="587629" y="0"/>
                    <a:pt x="757301" y="169545"/>
                    <a:pt x="757301" y="378587"/>
                  </a:cubicBezTo>
                  <a:cubicBezTo>
                    <a:pt x="757301" y="587629"/>
                    <a:pt x="587756" y="757301"/>
                    <a:pt x="378587" y="757301"/>
                  </a:cubicBezTo>
                  <a:cubicBezTo>
                    <a:pt x="169418" y="757301"/>
                    <a:pt x="0" y="587756"/>
                    <a:pt x="0" y="378587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9748838" y="5254079"/>
            <a:ext cx="255537" cy="319385"/>
            <a:chOff x="0" y="0"/>
            <a:chExt cx="340717" cy="425847"/>
          </a:xfrm>
        </p:grpSpPr>
        <p:sp>
          <p:nvSpPr>
            <p:cNvPr id="31" name="Freeform 31" descr="preencoded.png"/>
            <p:cNvSpPr/>
            <p:nvPr/>
          </p:nvSpPr>
          <p:spPr>
            <a:xfrm>
              <a:off x="0" y="0"/>
              <a:ext cx="340741" cy="425831"/>
            </a:xfrm>
            <a:custGeom>
              <a:avLst/>
              <a:gdLst/>
              <a:ahLst/>
              <a:cxnLst/>
              <a:rect l="l" t="t" r="r" b="b"/>
              <a:pathLst>
                <a:path w="340741" h="425831">
                  <a:moveTo>
                    <a:pt x="0" y="0"/>
                  </a:moveTo>
                  <a:lnTo>
                    <a:pt x="340741" y="0"/>
                  </a:lnTo>
                  <a:lnTo>
                    <a:pt x="340741" y="425831"/>
                  </a:lnTo>
                  <a:lnTo>
                    <a:pt x="0" y="425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76" r="7" b="-379"/>
              </a:stretch>
            </a:blipFill>
          </p:spPr>
        </p:sp>
      </p:grpSp>
      <p:sp>
        <p:nvSpPr>
          <p:cNvPr id="32" name="TextBox 32"/>
          <p:cNvSpPr txBox="1"/>
          <p:nvPr/>
        </p:nvSpPr>
        <p:spPr>
          <a:xfrm>
            <a:off x="9592716" y="5858470"/>
            <a:ext cx="4231035" cy="29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AI-Based Personalised Learning Roadmaps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92716" y="6272510"/>
            <a:ext cx="7833866" cy="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Advanced algorithms for highly customised learning paths, adapting dynamically to individual progress and knowledge gaps.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374832" y="7333059"/>
            <a:ext cx="8269635" cy="2250876"/>
            <a:chOff x="0" y="0"/>
            <a:chExt cx="11026180" cy="3001168"/>
          </a:xfrm>
        </p:grpSpPr>
        <p:sp>
          <p:nvSpPr>
            <p:cNvPr id="35" name="Freeform 35"/>
            <p:cNvSpPr/>
            <p:nvPr/>
          </p:nvSpPr>
          <p:spPr>
            <a:xfrm>
              <a:off x="12700" y="12700"/>
              <a:ext cx="11000740" cy="2975737"/>
            </a:xfrm>
            <a:custGeom>
              <a:avLst/>
              <a:gdLst/>
              <a:ahLst/>
              <a:cxnLst/>
              <a:rect l="l" t="t" r="r" b="b"/>
              <a:pathLst>
                <a:path w="11000740" h="2975737">
                  <a:moveTo>
                    <a:pt x="0" y="378587"/>
                  </a:moveTo>
                  <a:cubicBezTo>
                    <a:pt x="0" y="169545"/>
                    <a:pt x="170561" y="0"/>
                    <a:pt x="381000" y="0"/>
                  </a:cubicBezTo>
                  <a:lnTo>
                    <a:pt x="10619740" y="0"/>
                  </a:lnTo>
                  <a:cubicBezTo>
                    <a:pt x="10830179" y="0"/>
                    <a:pt x="11000740" y="169545"/>
                    <a:pt x="11000740" y="378587"/>
                  </a:cubicBezTo>
                  <a:lnTo>
                    <a:pt x="11000740" y="2597150"/>
                  </a:lnTo>
                  <a:cubicBezTo>
                    <a:pt x="11000740" y="2806319"/>
                    <a:pt x="10830179" y="2975737"/>
                    <a:pt x="10619740" y="2975737"/>
                  </a:cubicBezTo>
                  <a:lnTo>
                    <a:pt x="381000" y="2975737"/>
                  </a:lnTo>
                  <a:cubicBezTo>
                    <a:pt x="170561" y="2975737"/>
                    <a:pt x="0" y="2806192"/>
                    <a:pt x="0" y="2597150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1026140" cy="3001137"/>
            </a:xfrm>
            <a:custGeom>
              <a:avLst/>
              <a:gdLst/>
              <a:ahLst/>
              <a:cxnLst/>
              <a:rect l="l" t="t" r="r" b="b"/>
              <a:pathLst>
                <a:path w="11026140" h="3001137">
                  <a:moveTo>
                    <a:pt x="0" y="391287"/>
                  </a:moveTo>
                  <a:cubicBezTo>
                    <a:pt x="0" y="175133"/>
                    <a:pt x="176276" y="0"/>
                    <a:pt x="393700" y="0"/>
                  </a:cubicBezTo>
                  <a:lnTo>
                    <a:pt x="10632440" y="0"/>
                  </a:lnTo>
                  <a:lnTo>
                    <a:pt x="10632440" y="12700"/>
                  </a:lnTo>
                  <a:lnTo>
                    <a:pt x="10632440" y="0"/>
                  </a:lnTo>
                  <a:cubicBezTo>
                    <a:pt x="10849737" y="0"/>
                    <a:pt x="11026140" y="175133"/>
                    <a:pt x="11026140" y="391287"/>
                  </a:cubicBezTo>
                  <a:lnTo>
                    <a:pt x="11013440" y="391287"/>
                  </a:lnTo>
                  <a:lnTo>
                    <a:pt x="11026140" y="391287"/>
                  </a:lnTo>
                  <a:lnTo>
                    <a:pt x="11026140" y="2609850"/>
                  </a:lnTo>
                  <a:lnTo>
                    <a:pt x="11013440" y="2609850"/>
                  </a:lnTo>
                  <a:lnTo>
                    <a:pt x="11026140" y="2609850"/>
                  </a:lnTo>
                  <a:cubicBezTo>
                    <a:pt x="11026140" y="2826004"/>
                    <a:pt x="10849864" y="3001137"/>
                    <a:pt x="10632440" y="3001137"/>
                  </a:cubicBezTo>
                  <a:lnTo>
                    <a:pt x="10632440" y="2988437"/>
                  </a:lnTo>
                  <a:lnTo>
                    <a:pt x="10632440" y="3001137"/>
                  </a:lnTo>
                  <a:lnTo>
                    <a:pt x="393700" y="3001137"/>
                  </a:lnTo>
                  <a:lnTo>
                    <a:pt x="393700" y="2988437"/>
                  </a:lnTo>
                  <a:lnTo>
                    <a:pt x="393700" y="3001137"/>
                  </a:lnTo>
                  <a:cubicBezTo>
                    <a:pt x="176403" y="3001137"/>
                    <a:pt x="0" y="2826004"/>
                    <a:pt x="0" y="2609850"/>
                  </a:cubicBezTo>
                  <a:lnTo>
                    <a:pt x="0" y="391287"/>
                  </a:lnTo>
                  <a:lnTo>
                    <a:pt x="12700" y="391287"/>
                  </a:lnTo>
                  <a:lnTo>
                    <a:pt x="0" y="391287"/>
                  </a:lnTo>
                  <a:moveTo>
                    <a:pt x="25400" y="391287"/>
                  </a:moveTo>
                  <a:lnTo>
                    <a:pt x="25400" y="2609850"/>
                  </a:lnTo>
                  <a:lnTo>
                    <a:pt x="12700" y="2609850"/>
                  </a:lnTo>
                  <a:lnTo>
                    <a:pt x="25400" y="2609850"/>
                  </a:lnTo>
                  <a:cubicBezTo>
                    <a:pt x="25400" y="2811907"/>
                    <a:pt x="190246" y="2975737"/>
                    <a:pt x="393700" y="2975737"/>
                  </a:cubicBezTo>
                  <a:lnTo>
                    <a:pt x="10632440" y="2975737"/>
                  </a:lnTo>
                  <a:cubicBezTo>
                    <a:pt x="10835894" y="2975737"/>
                    <a:pt x="11000740" y="2811780"/>
                    <a:pt x="11000740" y="2609850"/>
                  </a:cubicBezTo>
                  <a:lnTo>
                    <a:pt x="11000740" y="391287"/>
                  </a:lnTo>
                  <a:cubicBezTo>
                    <a:pt x="11000740" y="189357"/>
                    <a:pt x="10836021" y="25400"/>
                    <a:pt x="10632440" y="25400"/>
                  </a:cubicBezTo>
                  <a:lnTo>
                    <a:pt x="393700" y="25400"/>
                  </a:lnTo>
                  <a:lnTo>
                    <a:pt x="393700" y="12700"/>
                  </a:lnTo>
                  <a:lnTo>
                    <a:pt x="393700" y="25400"/>
                  </a:lnTo>
                  <a:cubicBezTo>
                    <a:pt x="190246" y="25400"/>
                    <a:pt x="25400" y="189357"/>
                    <a:pt x="25400" y="391287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592716" y="7550944"/>
            <a:ext cx="567929" cy="567929"/>
            <a:chOff x="0" y="0"/>
            <a:chExt cx="757238" cy="75723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57301" cy="757301"/>
            </a:xfrm>
            <a:custGeom>
              <a:avLst/>
              <a:gdLst/>
              <a:ahLst/>
              <a:cxnLst/>
              <a:rect l="l" t="t" r="r" b="b"/>
              <a:pathLst>
                <a:path w="757301" h="757301">
                  <a:moveTo>
                    <a:pt x="0" y="378587"/>
                  </a:moveTo>
                  <a:cubicBezTo>
                    <a:pt x="0" y="169545"/>
                    <a:pt x="169545" y="0"/>
                    <a:pt x="378587" y="0"/>
                  </a:cubicBezTo>
                  <a:cubicBezTo>
                    <a:pt x="587629" y="0"/>
                    <a:pt x="757301" y="169545"/>
                    <a:pt x="757301" y="378587"/>
                  </a:cubicBezTo>
                  <a:cubicBezTo>
                    <a:pt x="757301" y="587629"/>
                    <a:pt x="587756" y="757301"/>
                    <a:pt x="378587" y="757301"/>
                  </a:cubicBezTo>
                  <a:cubicBezTo>
                    <a:pt x="169418" y="757301"/>
                    <a:pt x="0" y="587756"/>
                    <a:pt x="0" y="378587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39" name="Group 39"/>
          <p:cNvGrpSpPr>
            <a:grpSpLocks noChangeAspect="1"/>
          </p:cNvGrpSpPr>
          <p:nvPr/>
        </p:nvGrpSpPr>
        <p:grpSpPr>
          <a:xfrm>
            <a:off x="9748838" y="7675215"/>
            <a:ext cx="255537" cy="319385"/>
            <a:chOff x="0" y="0"/>
            <a:chExt cx="340717" cy="425847"/>
          </a:xfrm>
        </p:grpSpPr>
        <p:sp>
          <p:nvSpPr>
            <p:cNvPr id="40" name="Freeform 40" descr="preencoded.png"/>
            <p:cNvSpPr/>
            <p:nvPr/>
          </p:nvSpPr>
          <p:spPr>
            <a:xfrm>
              <a:off x="0" y="0"/>
              <a:ext cx="340741" cy="425831"/>
            </a:xfrm>
            <a:custGeom>
              <a:avLst/>
              <a:gdLst/>
              <a:ahLst/>
              <a:cxnLst/>
              <a:rect l="l" t="t" r="r" b="b"/>
              <a:pathLst>
                <a:path w="340741" h="425831">
                  <a:moveTo>
                    <a:pt x="0" y="0"/>
                  </a:moveTo>
                  <a:lnTo>
                    <a:pt x="340741" y="0"/>
                  </a:lnTo>
                  <a:lnTo>
                    <a:pt x="340741" y="425831"/>
                  </a:lnTo>
                  <a:lnTo>
                    <a:pt x="0" y="425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76" r="7" b="-379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9592716" y="8279606"/>
            <a:ext cx="4126260" cy="291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2"/>
              </a:lnSpc>
            </a:pPr>
            <a:r>
              <a:rPr lang="en-US" sz="1625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Potential Research Publications &amp; Patents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592716" y="8693646"/>
            <a:ext cx="7833866" cy="672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437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novel integration and AI-driven methodologies present strong opportunities for academic publications and intellectual property protection.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191229" y="9210675"/>
            <a:ext cx="288542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5283696" y="387549"/>
            <a:ext cx="7687121" cy="64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3687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Conclusion: The Future of Learning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55151" y="1648473"/>
            <a:ext cx="13177700" cy="2457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20"/>
              </a:lnSpc>
            </a:pP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Roadmap Builder </a:t>
            </a:r>
            <a:r>
              <a:rPr lang="en-US" sz="5166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= </a:t>
            </a: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Learning </a:t>
            </a:r>
            <a:r>
              <a:rPr lang="en-US" sz="5166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+ </a:t>
            </a: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AI </a:t>
            </a:r>
            <a:r>
              <a:rPr lang="en-US" sz="5166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+ </a:t>
            </a: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Videos </a:t>
            </a:r>
            <a:r>
              <a:rPr lang="en-US" sz="5166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+ </a:t>
            </a: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Files </a:t>
            </a:r>
            <a:r>
              <a:rPr lang="en-US" sz="5166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= </a:t>
            </a:r>
            <a:r>
              <a:rPr lang="en-US" sz="5166" b="1">
                <a:solidFill>
                  <a:srgbClr val="F0FCFF"/>
                </a:solidFill>
                <a:latin typeface="Arimo Bold"/>
                <a:ea typeface="Arimo Bold"/>
                <a:cs typeface="Arimo Bold"/>
                <a:sym typeface="Arimo Bold"/>
              </a:rPr>
              <a:t>Smart Knowledge Solution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20502" y="4106466"/>
            <a:ext cx="629542" cy="629542"/>
            <a:chOff x="0" y="0"/>
            <a:chExt cx="839390" cy="839390"/>
          </a:xfrm>
        </p:grpSpPr>
        <p:sp>
          <p:nvSpPr>
            <p:cNvPr id="9" name="Freeform 9"/>
            <p:cNvSpPr/>
            <p:nvPr/>
          </p:nvSpPr>
          <p:spPr>
            <a:xfrm>
              <a:off x="19050" y="19050"/>
              <a:ext cx="801243" cy="801243"/>
            </a:xfrm>
            <a:custGeom>
              <a:avLst/>
              <a:gdLst/>
              <a:ahLst/>
              <a:cxnLst/>
              <a:rect l="l" t="t" r="r" b="b"/>
              <a:pathLst>
                <a:path w="801243" h="801243">
                  <a:moveTo>
                    <a:pt x="0" y="400685"/>
                  </a:moveTo>
                  <a:cubicBezTo>
                    <a:pt x="0" y="179324"/>
                    <a:pt x="179324" y="0"/>
                    <a:pt x="400685" y="0"/>
                  </a:cubicBezTo>
                  <a:cubicBezTo>
                    <a:pt x="622046" y="0"/>
                    <a:pt x="801243" y="179324"/>
                    <a:pt x="801243" y="400685"/>
                  </a:cubicBezTo>
                  <a:cubicBezTo>
                    <a:pt x="801243" y="622046"/>
                    <a:pt x="621919" y="801243"/>
                    <a:pt x="400685" y="801243"/>
                  </a:cubicBezTo>
                  <a:cubicBezTo>
                    <a:pt x="179451" y="801243"/>
                    <a:pt x="0" y="621919"/>
                    <a:pt x="0" y="40068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839343" cy="839470"/>
            </a:xfrm>
            <a:custGeom>
              <a:avLst/>
              <a:gdLst/>
              <a:ahLst/>
              <a:cxnLst/>
              <a:rect l="l" t="t" r="r" b="b"/>
              <a:pathLst>
                <a:path w="839343" h="839470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cubicBezTo>
                    <a:pt x="421640" y="0"/>
                    <a:pt x="423545" y="254"/>
                    <a:pt x="425450" y="889"/>
                  </a:cubicBezTo>
                  <a:lnTo>
                    <a:pt x="419735" y="19050"/>
                  </a:lnTo>
                  <a:lnTo>
                    <a:pt x="419735" y="0"/>
                  </a:lnTo>
                  <a:lnTo>
                    <a:pt x="419735" y="19050"/>
                  </a:lnTo>
                  <a:lnTo>
                    <a:pt x="419735" y="0"/>
                  </a:lnTo>
                  <a:cubicBezTo>
                    <a:pt x="651510" y="0"/>
                    <a:pt x="839343" y="187960"/>
                    <a:pt x="839343" y="419735"/>
                  </a:cubicBezTo>
                  <a:lnTo>
                    <a:pt x="820293" y="419735"/>
                  </a:lnTo>
                  <a:lnTo>
                    <a:pt x="839343" y="419735"/>
                  </a:lnTo>
                  <a:lnTo>
                    <a:pt x="820293" y="419735"/>
                  </a:lnTo>
                  <a:lnTo>
                    <a:pt x="839343" y="419735"/>
                  </a:lnTo>
                  <a:cubicBezTo>
                    <a:pt x="839343" y="651510"/>
                    <a:pt x="651383" y="839470"/>
                    <a:pt x="419608" y="839470"/>
                  </a:cubicBezTo>
                  <a:lnTo>
                    <a:pt x="419608" y="820420"/>
                  </a:lnTo>
                  <a:lnTo>
                    <a:pt x="419608" y="801370"/>
                  </a:lnTo>
                  <a:lnTo>
                    <a:pt x="419608" y="820420"/>
                  </a:lnTo>
                  <a:lnTo>
                    <a:pt x="419608" y="839470"/>
                  </a:lnTo>
                  <a:cubicBezTo>
                    <a:pt x="187960" y="839343"/>
                    <a:pt x="0" y="651510"/>
                    <a:pt x="0" y="419735"/>
                  </a:cubicBezTo>
                  <a:moveTo>
                    <a:pt x="38100" y="419735"/>
                  </a:moveTo>
                  <a:lnTo>
                    <a:pt x="19050" y="419735"/>
                  </a:lnTo>
                  <a:lnTo>
                    <a:pt x="38100" y="419735"/>
                  </a:lnTo>
                  <a:cubicBezTo>
                    <a:pt x="38100" y="630428"/>
                    <a:pt x="208915" y="801243"/>
                    <a:pt x="419735" y="801243"/>
                  </a:cubicBezTo>
                  <a:cubicBezTo>
                    <a:pt x="430276" y="801243"/>
                    <a:pt x="438785" y="809752"/>
                    <a:pt x="438785" y="820293"/>
                  </a:cubicBezTo>
                  <a:cubicBezTo>
                    <a:pt x="438785" y="830834"/>
                    <a:pt x="430276" y="839343"/>
                    <a:pt x="419735" y="839343"/>
                  </a:cubicBezTo>
                  <a:cubicBezTo>
                    <a:pt x="409194" y="839343"/>
                    <a:pt x="400685" y="830834"/>
                    <a:pt x="400685" y="820293"/>
                  </a:cubicBezTo>
                  <a:cubicBezTo>
                    <a:pt x="400685" y="809752"/>
                    <a:pt x="409194" y="801243"/>
                    <a:pt x="419735" y="801243"/>
                  </a:cubicBezTo>
                  <a:cubicBezTo>
                    <a:pt x="630428" y="801243"/>
                    <a:pt x="801370" y="630428"/>
                    <a:pt x="801370" y="419608"/>
                  </a:cubicBezTo>
                  <a:cubicBezTo>
                    <a:pt x="801370" y="208788"/>
                    <a:pt x="630428" y="38100"/>
                    <a:pt x="419735" y="38100"/>
                  </a:cubicBezTo>
                  <a:cubicBezTo>
                    <a:pt x="417830" y="38100"/>
                    <a:pt x="415925" y="37846"/>
                    <a:pt x="414020" y="37211"/>
                  </a:cubicBezTo>
                  <a:lnTo>
                    <a:pt x="419735" y="19050"/>
                  </a:lnTo>
                  <a:lnTo>
                    <a:pt x="419735" y="38100"/>
                  </a:lnTo>
                  <a:cubicBezTo>
                    <a:pt x="208915" y="38100"/>
                    <a:pt x="38100" y="208915"/>
                    <a:pt x="38100" y="419735"/>
                  </a:cubicBezTo>
                  <a:close/>
                </a:path>
              </a:pathLst>
            </a:custGeom>
            <a:solidFill>
              <a:srgbClr val="16FFBB"/>
            </a:solidFill>
          </p:spPr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1057275" y="4198665"/>
            <a:ext cx="355998" cy="445145"/>
            <a:chOff x="0" y="0"/>
            <a:chExt cx="474663" cy="593527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474726" cy="593471"/>
            </a:xfrm>
            <a:custGeom>
              <a:avLst/>
              <a:gdLst/>
              <a:ahLst/>
              <a:cxnLst/>
              <a:rect l="l" t="t" r="r" b="b"/>
              <a:pathLst>
                <a:path w="474726" h="593471">
                  <a:moveTo>
                    <a:pt x="0" y="0"/>
                  </a:moveTo>
                  <a:lnTo>
                    <a:pt x="474726" y="0"/>
                  </a:lnTo>
                  <a:lnTo>
                    <a:pt x="474726" y="593471"/>
                  </a:lnTo>
                  <a:lnTo>
                    <a:pt x="0" y="59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793" r="13" b="-803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802755" y="4183856"/>
            <a:ext cx="2967632" cy="39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Integrated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02755" y="4657725"/>
            <a:ext cx="4382244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Roadmap Builder = Learning + AI + Videos + Files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04534" y="4106466"/>
            <a:ext cx="629542" cy="629542"/>
            <a:chOff x="0" y="0"/>
            <a:chExt cx="839390" cy="839390"/>
          </a:xfrm>
        </p:grpSpPr>
        <p:sp>
          <p:nvSpPr>
            <p:cNvPr id="16" name="Freeform 16"/>
            <p:cNvSpPr/>
            <p:nvPr/>
          </p:nvSpPr>
          <p:spPr>
            <a:xfrm>
              <a:off x="19050" y="19050"/>
              <a:ext cx="801243" cy="801243"/>
            </a:xfrm>
            <a:custGeom>
              <a:avLst/>
              <a:gdLst/>
              <a:ahLst/>
              <a:cxnLst/>
              <a:rect l="l" t="t" r="r" b="b"/>
              <a:pathLst>
                <a:path w="801243" h="801243">
                  <a:moveTo>
                    <a:pt x="0" y="400685"/>
                  </a:moveTo>
                  <a:cubicBezTo>
                    <a:pt x="0" y="179324"/>
                    <a:pt x="179324" y="0"/>
                    <a:pt x="400685" y="0"/>
                  </a:cubicBezTo>
                  <a:cubicBezTo>
                    <a:pt x="622046" y="0"/>
                    <a:pt x="801243" y="179324"/>
                    <a:pt x="801243" y="400685"/>
                  </a:cubicBezTo>
                  <a:cubicBezTo>
                    <a:pt x="801243" y="622046"/>
                    <a:pt x="621919" y="801243"/>
                    <a:pt x="400685" y="801243"/>
                  </a:cubicBezTo>
                  <a:cubicBezTo>
                    <a:pt x="179451" y="801243"/>
                    <a:pt x="0" y="621919"/>
                    <a:pt x="0" y="40068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839343" cy="839470"/>
            </a:xfrm>
            <a:custGeom>
              <a:avLst/>
              <a:gdLst/>
              <a:ahLst/>
              <a:cxnLst/>
              <a:rect l="l" t="t" r="r" b="b"/>
              <a:pathLst>
                <a:path w="839343" h="839470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cubicBezTo>
                    <a:pt x="421640" y="0"/>
                    <a:pt x="423545" y="254"/>
                    <a:pt x="425450" y="889"/>
                  </a:cubicBezTo>
                  <a:lnTo>
                    <a:pt x="419735" y="19050"/>
                  </a:lnTo>
                  <a:lnTo>
                    <a:pt x="419735" y="0"/>
                  </a:lnTo>
                  <a:lnTo>
                    <a:pt x="419735" y="19050"/>
                  </a:lnTo>
                  <a:lnTo>
                    <a:pt x="419735" y="0"/>
                  </a:lnTo>
                  <a:cubicBezTo>
                    <a:pt x="651510" y="0"/>
                    <a:pt x="839343" y="187960"/>
                    <a:pt x="839343" y="419735"/>
                  </a:cubicBezTo>
                  <a:lnTo>
                    <a:pt x="820293" y="419735"/>
                  </a:lnTo>
                  <a:lnTo>
                    <a:pt x="839343" y="419735"/>
                  </a:lnTo>
                  <a:lnTo>
                    <a:pt x="820293" y="419735"/>
                  </a:lnTo>
                  <a:lnTo>
                    <a:pt x="839343" y="419735"/>
                  </a:lnTo>
                  <a:cubicBezTo>
                    <a:pt x="839343" y="651510"/>
                    <a:pt x="651383" y="839470"/>
                    <a:pt x="419608" y="839470"/>
                  </a:cubicBezTo>
                  <a:lnTo>
                    <a:pt x="419608" y="820420"/>
                  </a:lnTo>
                  <a:lnTo>
                    <a:pt x="419608" y="801370"/>
                  </a:lnTo>
                  <a:lnTo>
                    <a:pt x="419608" y="820420"/>
                  </a:lnTo>
                  <a:lnTo>
                    <a:pt x="419608" y="839470"/>
                  </a:lnTo>
                  <a:cubicBezTo>
                    <a:pt x="187960" y="839343"/>
                    <a:pt x="0" y="651510"/>
                    <a:pt x="0" y="419735"/>
                  </a:cubicBezTo>
                  <a:moveTo>
                    <a:pt x="38100" y="419735"/>
                  </a:moveTo>
                  <a:lnTo>
                    <a:pt x="19050" y="419735"/>
                  </a:lnTo>
                  <a:lnTo>
                    <a:pt x="38100" y="419735"/>
                  </a:lnTo>
                  <a:cubicBezTo>
                    <a:pt x="38100" y="630428"/>
                    <a:pt x="208915" y="801243"/>
                    <a:pt x="419735" y="801243"/>
                  </a:cubicBezTo>
                  <a:cubicBezTo>
                    <a:pt x="430276" y="801243"/>
                    <a:pt x="438785" y="809752"/>
                    <a:pt x="438785" y="820293"/>
                  </a:cubicBezTo>
                  <a:cubicBezTo>
                    <a:pt x="438785" y="830834"/>
                    <a:pt x="430276" y="839343"/>
                    <a:pt x="419735" y="839343"/>
                  </a:cubicBezTo>
                  <a:cubicBezTo>
                    <a:pt x="409194" y="839343"/>
                    <a:pt x="400685" y="830834"/>
                    <a:pt x="400685" y="820293"/>
                  </a:cubicBezTo>
                  <a:cubicBezTo>
                    <a:pt x="400685" y="809752"/>
                    <a:pt x="409194" y="801243"/>
                    <a:pt x="419735" y="801243"/>
                  </a:cubicBezTo>
                  <a:cubicBezTo>
                    <a:pt x="630428" y="801243"/>
                    <a:pt x="801370" y="630428"/>
                    <a:pt x="801370" y="419608"/>
                  </a:cubicBezTo>
                  <a:cubicBezTo>
                    <a:pt x="801370" y="208788"/>
                    <a:pt x="630428" y="38100"/>
                    <a:pt x="419735" y="38100"/>
                  </a:cubicBezTo>
                  <a:cubicBezTo>
                    <a:pt x="417830" y="38100"/>
                    <a:pt x="415925" y="37846"/>
                    <a:pt x="414020" y="37211"/>
                  </a:cubicBezTo>
                  <a:lnTo>
                    <a:pt x="419735" y="19050"/>
                  </a:lnTo>
                  <a:lnTo>
                    <a:pt x="419735" y="38100"/>
                  </a:lnTo>
                  <a:cubicBezTo>
                    <a:pt x="208915" y="38100"/>
                    <a:pt x="38100" y="208915"/>
                    <a:pt x="38100" y="419735"/>
                  </a:cubicBezTo>
                  <a:close/>
                </a:path>
              </a:pathLst>
            </a:custGeom>
            <a:solidFill>
              <a:srgbClr val="29DDDA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6641306" y="4198665"/>
            <a:ext cx="355997" cy="445145"/>
            <a:chOff x="0" y="0"/>
            <a:chExt cx="474663" cy="593527"/>
          </a:xfrm>
        </p:grpSpPr>
        <p:sp>
          <p:nvSpPr>
            <p:cNvPr id="19" name="Freeform 19" descr="preencoded.png"/>
            <p:cNvSpPr/>
            <p:nvPr/>
          </p:nvSpPr>
          <p:spPr>
            <a:xfrm>
              <a:off x="0" y="0"/>
              <a:ext cx="474726" cy="593471"/>
            </a:xfrm>
            <a:custGeom>
              <a:avLst/>
              <a:gdLst/>
              <a:ahLst/>
              <a:cxnLst/>
              <a:rect l="l" t="t" r="r" b="b"/>
              <a:pathLst>
                <a:path w="474726" h="593471">
                  <a:moveTo>
                    <a:pt x="0" y="0"/>
                  </a:moveTo>
                  <a:lnTo>
                    <a:pt x="474726" y="0"/>
                  </a:lnTo>
                  <a:lnTo>
                    <a:pt x="474726" y="593471"/>
                  </a:lnTo>
                  <a:lnTo>
                    <a:pt x="0" y="59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793" r="13" b="-803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7386786" y="4183856"/>
            <a:ext cx="2967632" cy="39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Unique &amp; Scalable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386786" y="4657725"/>
            <a:ext cx="4382244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A novel approach to structured knowledge acquisition.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88565" y="4106466"/>
            <a:ext cx="629542" cy="629542"/>
            <a:chOff x="0" y="0"/>
            <a:chExt cx="839390" cy="839390"/>
          </a:xfrm>
        </p:grpSpPr>
        <p:sp>
          <p:nvSpPr>
            <p:cNvPr id="23" name="Freeform 23"/>
            <p:cNvSpPr/>
            <p:nvPr/>
          </p:nvSpPr>
          <p:spPr>
            <a:xfrm>
              <a:off x="19050" y="19050"/>
              <a:ext cx="801243" cy="801243"/>
            </a:xfrm>
            <a:custGeom>
              <a:avLst/>
              <a:gdLst/>
              <a:ahLst/>
              <a:cxnLst/>
              <a:rect l="l" t="t" r="r" b="b"/>
              <a:pathLst>
                <a:path w="801243" h="801243">
                  <a:moveTo>
                    <a:pt x="0" y="400685"/>
                  </a:moveTo>
                  <a:cubicBezTo>
                    <a:pt x="0" y="179324"/>
                    <a:pt x="179324" y="0"/>
                    <a:pt x="400685" y="0"/>
                  </a:cubicBezTo>
                  <a:cubicBezTo>
                    <a:pt x="622046" y="0"/>
                    <a:pt x="801243" y="179324"/>
                    <a:pt x="801243" y="400685"/>
                  </a:cubicBezTo>
                  <a:cubicBezTo>
                    <a:pt x="801243" y="622046"/>
                    <a:pt x="621919" y="801243"/>
                    <a:pt x="400685" y="801243"/>
                  </a:cubicBezTo>
                  <a:cubicBezTo>
                    <a:pt x="179451" y="801243"/>
                    <a:pt x="0" y="621919"/>
                    <a:pt x="0" y="400685"/>
                  </a:cubicBezTo>
                  <a:close/>
                </a:path>
              </a:pathLst>
            </a:custGeom>
            <a:solidFill>
              <a:srgbClr val="0A081B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839343" cy="839470"/>
            </a:xfrm>
            <a:custGeom>
              <a:avLst/>
              <a:gdLst/>
              <a:ahLst/>
              <a:cxnLst/>
              <a:rect l="l" t="t" r="r" b="b"/>
              <a:pathLst>
                <a:path w="839343" h="839470">
                  <a:moveTo>
                    <a:pt x="0" y="419735"/>
                  </a:moveTo>
                  <a:cubicBezTo>
                    <a:pt x="0" y="187960"/>
                    <a:pt x="187960" y="0"/>
                    <a:pt x="419735" y="0"/>
                  </a:cubicBezTo>
                  <a:cubicBezTo>
                    <a:pt x="421640" y="0"/>
                    <a:pt x="423545" y="254"/>
                    <a:pt x="425450" y="889"/>
                  </a:cubicBezTo>
                  <a:lnTo>
                    <a:pt x="419735" y="19050"/>
                  </a:lnTo>
                  <a:lnTo>
                    <a:pt x="419735" y="0"/>
                  </a:lnTo>
                  <a:lnTo>
                    <a:pt x="419735" y="19050"/>
                  </a:lnTo>
                  <a:lnTo>
                    <a:pt x="419735" y="0"/>
                  </a:lnTo>
                  <a:cubicBezTo>
                    <a:pt x="651510" y="0"/>
                    <a:pt x="839343" y="187960"/>
                    <a:pt x="839343" y="419735"/>
                  </a:cubicBezTo>
                  <a:lnTo>
                    <a:pt x="820293" y="419735"/>
                  </a:lnTo>
                  <a:lnTo>
                    <a:pt x="839343" y="419735"/>
                  </a:lnTo>
                  <a:lnTo>
                    <a:pt x="820293" y="419735"/>
                  </a:lnTo>
                  <a:lnTo>
                    <a:pt x="839343" y="419735"/>
                  </a:lnTo>
                  <a:cubicBezTo>
                    <a:pt x="839343" y="651510"/>
                    <a:pt x="651383" y="839470"/>
                    <a:pt x="419608" y="839470"/>
                  </a:cubicBezTo>
                  <a:lnTo>
                    <a:pt x="419608" y="820420"/>
                  </a:lnTo>
                  <a:lnTo>
                    <a:pt x="419608" y="801370"/>
                  </a:lnTo>
                  <a:lnTo>
                    <a:pt x="419608" y="820420"/>
                  </a:lnTo>
                  <a:lnTo>
                    <a:pt x="419608" y="839470"/>
                  </a:lnTo>
                  <a:cubicBezTo>
                    <a:pt x="187960" y="839343"/>
                    <a:pt x="0" y="651510"/>
                    <a:pt x="0" y="419735"/>
                  </a:cubicBezTo>
                  <a:moveTo>
                    <a:pt x="38100" y="419735"/>
                  </a:moveTo>
                  <a:lnTo>
                    <a:pt x="19050" y="419735"/>
                  </a:lnTo>
                  <a:lnTo>
                    <a:pt x="38100" y="419735"/>
                  </a:lnTo>
                  <a:cubicBezTo>
                    <a:pt x="38100" y="630428"/>
                    <a:pt x="208915" y="801243"/>
                    <a:pt x="419735" y="801243"/>
                  </a:cubicBezTo>
                  <a:cubicBezTo>
                    <a:pt x="430276" y="801243"/>
                    <a:pt x="438785" y="809752"/>
                    <a:pt x="438785" y="820293"/>
                  </a:cubicBezTo>
                  <a:cubicBezTo>
                    <a:pt x="438785" y="830834"/>
                    <a:pt x="430276" y="839343"/>
                    <a:pt x="419735" y="839343"/>
                  </a:cubicBezTo>
                  <a:cubicBezTo>
                    <a:pt x="409194" y="839343"/>
                    <a:pt x="400685" y="830834"/>
                    <a:pt x="400685" y="820293"/>
                  </a:cubicBezTo>
                  <a:cubicBezTo>
                    <a:pt x="400685" y="809752"/>
                    <a:pt x="409194" y="801243"/>
                    <a:pt x="419735" y="801243"/>
                  </a:cubicBezTo>
                  <a:cubicBezTo>
                    <a:pt x="630428" y="801243"/>
                    <a:pt x="801370" y="630428"/>
                    <a:pt x="801370" y="419608"/>
                  </a:cubicBezTo>
                  <a:cubicBezTo>
                    <a:pt x="801370" y="208788"/>
                    <a:pt x="630428" y="38100"/>
                    <a:pt x="419735" y="38100"/>
                  </a:cubicBezTo>
                  <a:cubicBezTo>
                    <a:pt x="417830" y="38100"/>
                    <a:pt x="415925" y="37846"/>
                    <a:pt x="414020" y="37211"/>
                  </a:cubicBezTo>
                  <a:lnTo>
                    <a:pt x="419735" y="19050"/>
                  </a:lnTo>
                  <a:lnTo>
                    <a:pt x="419735" y="38100"/>
                  </a:lnTo>
                  <a:cubicBezTo>
                    <a:pt x="208915" y="38100"/>
                    <a:pt x="38100" y="208915"/>
                    <a:pt x="38100" y="419735"/>
                  </a:cubicBezTo>
                  <a:close/>
                </a:path>
              </a:pathLst>
            </a:custGeom>
            <a:solidFill>
              <a:srgbClr val="37A7E7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2225338" y="4198665"/>
            <a:ext cx="355997" cy="445145"/>
            <a:chOff x="0" y="0"/>
            <a:chExt cx="474663" cy="593527"/>
          </a:xfrm>
        </p:grpSpPr>
        <p:sp>
          <p:nvSpPr>
            <p:cNvPr id="26" name="Freeform 26" descr="preencoded.png"/>
            <p:cNvSpPr/>
            <p:nvPr/>
          </p:nvSpPr>
          <p:spPr>
            <a:xfrm>
              <a:off x="0" y="0"/>
              <a:ext cx="474726" cy="593471"/>
            </a:xfrm>
            <a:custGeom>
              <a:avLst/>
              <a:gdLst/>
              <a:ahLst/>
              <a:cxnLst/>
              <a:rect l="l" t="t" r="r" b="b"/>
              <a:pathLst>
                <a:path w="474726" h="593471">
                  <a:moveTo>
                    <a:pt x="0" y="0"/>
                  </a:moveTo>
                  <a:lnTo>
                    <a:pt x="474726" y="0"/>
                  </a:lnTo>
                  <a:lnTo>
                    <a:pt x="474726" y="593471"/>
                  </a:lnTo>
                  <a:lnTo>
                    <a:pt x="0" y="593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93" r="13" b="-803"/>
              </a:stretch>
            </a:blipFill>
          </p:spPr>
        </p:sp>
      </p:grpSp>
      <p:sp>
        <p:nvSpPr>
          <p:cNvPr id="27" name="TextBox 27"/>
          <p:cNvSpPr txBox="1"/>
          <p:nvPr/>
        </p:nvSpPr>
        <p:spPr>
          <a:xfrm>
            <a:off x="12970817" y="4183856"/>
            <a:ext cx="2967632" cy="39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1">
                <a:solidFill>
                  <a:srgbClr val="E0E4E6"/>
                </a:solidFill>
                <a:latin typeface="Arimo Bold"/>
                <a:ea typeface="Arimo Bold"/>
                <a:cs typeface="Arimo Bold"/>
                <a:sym typeface="Arimo Bold"/>
              </a:rPr>
              <a:t>Future Direction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970817" y="4657725"/>
            <a:ext cx="4382392" cy="940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062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MVP → User Testing → Scaling &amp; Expansion.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934790" y="5898802"/>
            <a:ext cx="16418421" cy="2742010"/>
            <a:chOff x="0" y="0"/>
            <a:chExt cx="21891228" cy="365601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1891244" cy="3656076"/>
            </a:xfrm>
            <a:custGeom>
              <a:avLst/>
              <a:gdLst/>
              <a:ahLst/>
              <a:cxnLst/>
              <a:rect l="l" t="t" r="r" b="b"/>
              <a:pathLst>
                <a:path w="21891244" h="3656076">
                  <a:moveTo>
                    <a:pt x="0" y="534162"/>
                  </a:moveTo>
                  <a:cubicBezTo>
                    <a:pt x="0" y="239141"/>
                    <a:pt x="239141" y="0"/>
                    <a:pt x="534162" y="0"/>
                  </a:cubicBezTo>
                  <a:lnTo>
                    <a:pt x="21357082" y="0"/>
                  </a:lnTo>
                  <a:cubicBezTo>
                    <a:pt x="21652103" y="0"/>
                    <a:pt x="21891244" y="239141"/>
                    <a:pt x="21891244" y="534162"/>
                  </a:cubicBezTo>
                  <a:lnTo>
                    <a:pt x="21891244" y="3121787"/>
                  </a:lnTo>
                  <a:cubicBezTo>
                    <a:pt x="21891244" y="3416808"/>
                    <a:pt x="21652103" y="3655949"/>
                    <a:pt x="21357082" y="3655949"/>
                  </a:cubicBezTo>
                  <a:lnTo>
                    <a:pt x="534162" y="3655949"/>
                  </a:lnTo>
                  <a:cubicBezTo>
                    <a:pt x="239141" y="3656076"/>
                    <a:pt x="0" y="3416808"/>
                    <a:pt x="0" y="3121787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id="31" name="Group 31"/>
          <p:cNvGrpSpPr>
            <a:grpSpLocks noChangeAspect="1"/>
          </p:cNvGrpSpPr>
          <p:nvPr/>
        </p:nvGrpSpPr>
        <p:grpSpPr>
          <a:xfrm>
            <a:off x="1201787" y="6263879"/>
            <a:ext cx="445145" cy="355997"/>
            <a:chOff x="0" y="0"/>
            <a:chExt cx="593527" cy="474663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593471" cy="474726"/>
            </a:xfrm>
            <a:custGeom>
              <a:avLst/>
              <a:gdLst/>
              <a:ahLst/>
              <a:cxnLst/>
              <a:rect l="l" t="t" r="r" b="b"/>
              <a:pathLst>
                <a:path w="593471" h="474726">
                  <a:moveTo>
                    <a:pt x="0" y="0"/>
                  </a:moveTo>
                  <a:lnTo>
                    <a:pt x="593471" y="0"/>
                  </a:lnTo>
                  <a:lnTo>
                    <a:pt x="593471" y="474726"/>
                  </a:lnTo>
                  <a:lnTo>
                    <a:pt x="0" y="4747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93" r="-803" b="13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913930" y="6184850"/>
            <a:ext cx="3561160" cy="492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 b="1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Next Steps: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913930" y="6858892"/>
            <a:ext cx="15172284" cy="51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Minimum Viable Product (MVP) Development:</a:t>
            </a:r>
            <a:r>
              <a:rPr lang="en-US" sz="2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Focus on core functionality.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913930" y="7379791"/>
            <a:ext cx="15172284" cy="51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User Testing &amp; Feedback:</a:t>
            </a:r>
            <a:r>
              <a:rPr lang="en-US" sz="2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Iterative refinement based on real-world use.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913930" y="7900690"/>
            <a:ext cx="15172284" cy="513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11051" lvl="1" indent="-155525" algn="l">
              <a:lnSpc>
                <a:spcPts val="3312"/>
              </a:lnSpc>
              <a:buFont typeface="Arial"/>
              <a:buChar char="•"/>
            </a:pPr>
            <a:r>
              <a:rPr lang="en-US" sz="2062" b="1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Strategic Scaling:</a:t>
            </a:r>
            <a:r>
              <a:rPr lang="en-US" sz="2062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Expanding features and user base post-launch.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4790" y="8846046"/>
            <a:ext cx="16418421" cy="629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7"/>
              </a:lnSpc>
            </a:pPr>
            <a:r>
              <a:rPr lang="en-US" sz="262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The AI-Powered Roadmap Builder is a smart knowledge solution for the digital age.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7184817" y="9210675"/>
            <a:ext cx="301366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A081B">
                <a:alpha val="56078"/>
              </a:srgbClr>
            </a:solid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049019" y="9686925"/>
            <a:ext cx="2153256" cy="514350"/>
            <a:chOff x="0" y="0"/>
            <a:chExt cx="2871008" cy="685800"/>
          </a:xfrm>
        </p:grpSpPr>
        <p:sp>
          <p:nvSpPr>
            <p:cNvPr id="7" name="Freeform 7" descr="preencoded.png">
              <a:hlinkClick r:id="rId4" tooltip="https://gamma.app/?utm_source=made-with-gamma"/>
            </p:cNvPr>
            <p:cNvSpPr/>
            <p:nvPr/>
          </p:nvSpPr>
          <p:spPr>
            <a:xfrm>
              <a:off x="0" y="0"/>
              <a:ext cx="2870962" cy="685800"/>
            </a:xfrm>
            <a:custGeom>
              <a:avLst/>
              <a:gdLst/>
              <a:ahLst/>
              <a:cxnLst/>
              <a:rect l="l" t="t" r="r" b="b"/>
              <a:pathLst>
                <a:path w="2870962" h="685800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"/>
              </a:stretch>
            </a:blipFill>
          </p:spPr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080046" y="3515320"/>
            <a:ext cx="9269909" cy="125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312"/>
              </a:lnSpc>
            </a:pPr>
            <a:r>
              <a:rPr lang="en-US" sz="7437" b="1">
                <a:solidFill>
                  <a:srgbClr val="16FFBB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0046" y="5132486"/>
            <a:ext cx="9269909" cy="598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75"/>
              </a:lnSpc>
            </a:pPr>
            <a:r>
              <a:rPr lang="en-US" sz="2375">
                <a:solidFill>
                  <a:srgbClr val="E0E4E6"/>
                </a:solidFill>
                <a:latin typeface="Barlow"/>
                <a:ea typeface="Barlow"/>
                <a:cs typeface="Barlow"/>
                <a:sym typeface="Barlow"/>
              </a:rPr>
              <a:t>For your time and attention.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04053" y="9210675"/>
            <a:ext cx="262893" cy="335541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1210</Words>
  <Application>Microsoft Office PowerPoint</Application>
  <PresentationFormat>Custom</PresentationFormat>
  <Paragraphs>228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Arimo Bold</vt:lpstr>
      <vt:lpstr>Barlow</vt:lpstr>
      <vt:lpstr>Canva Sans</vt:lpstr>
      <vt:lpstr>Barlow Bold</vt:lpstr>
      <vt:lpstr>Barlow Italics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Untitled.pptx</dc:title>
  <cp:lastModifiedBy>Tushar Prajapati</cp:lastModifiedBy>
  <cp:revision>10</cp:revision>
  <dcterms:created xsi:type="dcterms:W3CDTF">2006-08-16T00:00:00Z</dcterms:created>
  <dcterms:modified xsi:type="dcterms:W3CDTF">2025-11-11T05:09:46Z</dcterms:modified>
  <dc:identifier>DAGwotUatg0</dc:identifier>
</cp:coreProperties>
</file>