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7" r:id="rId1"/>
  </p:sldMasterIdLst>
  <p:notesMasterIdLst>
    <p:notesMasterId r:id="rId13"/>
  </p:notesMasterIdLst>
  <p:sldIdLst>
    <p:sldId id="266" r:id="rId2"/>
    <p:sldId id="256" r:id="rId3"/>
    <p:sldId id="267" r:id="rId4"/>
    <p:sldId id="258" r:id="rId5"/>
    <p:sldId id="268" r:id="rId6"/>
    <p:sldId id="270" r:id="rId7"/>
    <p:sldId id="260" r:id="rId8"/>
    <p:sldId id="269" r:id="rId9"/>
    <p:sldId id="262" r:id="rId10"/>
    <p:sldId id="271" r:id="rId11"/>
    <p:sldId id="263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Kanit Light" panose="020B0604020202020204" charset="-34"/>
      <p:regular r:id="rId15"/>
    </p:embeddedFont>
    <p:embeddedFont>
      <p:font typeface="Martel Sans" panose="020B0604020202020204" charset="0"/>
      <p:regular r:id="rId16"/>
    </p:embeddedFont>
    <p:embeddedFont>
      <p:font typeface="MS Shell Dlg 2" panose="020B0604030504040204" pitchFamily="34" charset="0"/>
      <p:regular r:id="rId17"/>
      <p:bold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489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09039" y="0"/>
            <a:ext cx="9521218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730257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4170" y="4114798"/>
            <a:ext cx="6621679" cy="2722271"/>
          </a:xfrm>
        </p:spPr>
        <p:txBody>
          <a:bodyPr anchor="t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6729" y="2722544"/>
            <a:ext cx="6429120" cy="1392256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2160" b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29539" y="3915423"/>
            <a:ext cx="4987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8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88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9439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33932" y="769470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230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630212" y="3555103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848" y="3776705"/>
            <a:ext cx="9547872" cy="1709695"/>
          </a:xfrm>
        </p:spPr>
        <p:txBody>
          <a:bodyPr anchor="t">
            <a:normAutofit/>
          </a:bodyPr>
          <a:lstStyle>
            <a:lvl1pPr algn="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8762" y="2722543"/>
            <a:ext cx="9350317" cy="1054162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657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848" y="966981"/>
            <a:ext cx="9541181" cy="1298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26449" y="2462539"/>
            <a:ext cx="4670352" cy="47973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99963" y="2462537"/>
            <a:ext cx="4673066" cy="47973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635407" y="769468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4571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632380" y="763709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848" y="966981"/>
            <a:ext cx="9547872" cy="1294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1143" y="2462538"/>
            <a:ext cx="4675760" cy="85658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640" b="0" cap="none" baseline="0">
                <a:solidFill>
                  <a:schemeClr val="accent6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31142" y="3421597"/>
            <a:ext cx="4672348" cy="3685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99961" y="2462538"/>
            <a:ext cx="4679758" cy="85658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640" b="0" cap="none" baseline="0">
                <a:solidFill>
                  <a:schemeClr val="accent6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99962" y="3421597"/>
            <a:ext cx="4679758" cy="3685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888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35407" y="769471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5604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549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864985" y="1353060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4388" y="1538942"/>
            <a:ext cx="3197233" cy="2283889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4185" y="966982"/>
            <a:ext cx="6535534" cy="629295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4387" y="3823386"/>
            <a:ext cx="3197233" cy="2863676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830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6474" y="3875"/>
            <a:ext cx="5555681" cy="82296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865623" y="1353060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489" y="1538943"/>
            <a:ext cx="4765183" cy="2280568"/>
          </a:xfrm>
        </p:spPr>
        <p:txBody>
          <a:bodyPr anchor="b">
            <a:normAutofit/>
          </a:bodyPr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4386" y="3819514"/>
            <a:ext cx="4766249" cy="2863673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784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633083" y="769470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4170" y="969668"/>
            <a:ext cx="9544909" cy="1292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014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205375" y="0"/>
            <a:ext cx="12446779" cy="82296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3652794" y="0"/>
            <a:ext cx="32918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2404569" y="508506"/>
            <a:ext cx="4987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6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87257" y="966982"/>
            <a:ext cx="1591823" cy="629295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30502" y="1164492"/>
            <a:ext cx="7760284" cy="60954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059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344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46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92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420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776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32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153" y="2526242"/>
            <a:ext cx="11232246" cy="57033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7840" cy="8229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157009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4170" y="969668"/>
            <a:ext cx="9549997" cy="1292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8319" y="2462539"/>
            <a:ext cx="9355848" cy="479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972078" y="6324725"/>
            <a:ext cx="3195275" cy="219456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EA65236-7713-4298-8848-28A2C2DFC4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684556" y="4393373"/>
            <a:ext cx="7062422" cy="215011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0089" y="197511"/>
            <a:ext cx="764072" cy="38742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4F9CA-A173-4F0E-A1A1-FF7550AB2235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154451" y="0"/>
            <a:ext cx="54863" cy="8229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7544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2" r:id="rId14"/>
    <p:sldLayoutId id="2147483733" r:id="rId15"/>
    <p:sldLayoutId id="2147483734" r:id="rId16"/>
    <p:sldLayoutId id="2147483735" r:id="rId17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08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413386" indent="-413386" algn="l" defTabSz="1097280" rtl="0" eaLnBrk="1" latinLnBrk="0" hangingPunct="1">
        <a:lnSpc>
          <a:spcPct val="120000"/>
        </a:lnSpc>
        <a:spcBef>
          <a:spcPts val="12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954406" indent="-405766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16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510666" indent="-413386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051686" indent="-405766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8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607946" indent="-405994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171139" indent="-405994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730752" indent="-405994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290365" indent="-405994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849978" indent="-405994" algn="l" defTabSz="1097280" rtl="0" eaLnBrk="1" latinLnBrk="0" hangingPunct="1">
        <a:lnSpc>
          <a:spcPct val="120000"/>
        </a:lnSpc>
        <a:spcBef>
          <a:spcPts val="600"/>
        </a:spcBef>
        <a:spcAft>
          <a:spcPts val="72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4178D7-E9F2-2FD5-6D6A-842B8DE2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3844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DC7699-8A2B-A7FE-06AC-21ACC2D73CBA}"/>
              </a:ext>
            </a:extLst>
          </p:cNvPr>
          <p:cNvSpPr txBox="1"/>
          <p:nvPr/>
        </p:nvSpPr>
        <p:spPr>
          <a:xfrm>
            <a:off x="4255169" y="1803534"/>
            <a:ext cx="6120062" cy="1200329"/>
          </a:xfrm>
          <a:prstGeom prst="rect">
            <a:avLst/>
          </a:prstGeom>
          <a:solidFill>
            <a:srgbClr val="2E946B">
              <a:lumMod val="40000"/>
              <a:lumOff val="60000"/>
            </a:srgbClr>
          </a:solidFill>
        </p:spPr>
        <p:txBody>
          <a:bodyPr wrap="square">
            <a:spAutoFit/>
          </a:bodyPr>
          <a:lstStyle/>
          <a:p>
            <a:pPr lvl="0" algn="ctr" defTabSz="457200"/>
            <a:r>
              <a:rPr lang="en-US" sz="2400" b="1" dirty="0">
                <a:solidFill>
                  <a:schemeClr val="bg2"/>
                </a:solidFill>
              </a:rPr>
              <a:t>Major Project-I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(ID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chemeClr val="bg1"/>
                </a:solidFill>
              </a:rPr>
              <a:t>CA301P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  <a:b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Session 2025-26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1AA6B-A20A-0636-A1C8-1BB8805E2073}"/>
              </a:ext>
            </a:extLst>
          </p:cNvPr>
          <p:cNvSpPr txBox="1"/>
          <p:nvPr/>
        </p:nvSpPr>
        <p:spPr>
          <a:xfrm>
            <a:off x="3657600" y="3354656"/>
            <a:ext cx="7315200" cy="152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rgbClr val="272D45"/>
                </a:solidFill>
                <a:effectLst/>
                <a:uLnTx/>
                <a:uFillTx/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Internship Data Management System</a:t>
            </a:r>
            <a:endParaRPr kumimoji="0" lang="en-US" sz="4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E3D6F-4809-5736-26C7-29ADA8C4A2CC}"/>
              </a:ext>
            </a:extLst>
          </p:cNvPr>
          <p:cNvSpPr txBox="1"/>
          <p:nvPr/>
        </p:nvSpPr>
        <p:spPr>
          <a:xfrm>
            <a:off x="1370907" y="6976178"/>
            <a:ext cx="701842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Manish Kumar Singh  (202410116100114 )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Mansi </a:t>
            </a:r>
            <a:r>
              <a:rPr lang="en-US" sz="2000" b="1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(202410116100116)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13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5653" y="3169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Internship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36637F-5775-8908-E04D-99B9ED9A4D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23727" y="2962485"/>
            <a:ext cx="8020273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Internships are important for students to gain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practical knowledge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Manual handling of interns, tasks, and certificates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time-consuming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Communication between interns and admins becomes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difficult without a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Our project offers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single digital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smooth and transparent internship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8EA4C6-CF3D-E169-3DF1-DD9EB932B87E}"/>
              </a:ext>
            </a:extLst>
          </p:cNvPr>
          <p:cNvSpPr txBox="1"/>
          <p:nvPr/>
        </p:nvSpPr>
        <p:spPr>
          <a:xfrm>
            <a:off x="4650058" y="122664"/>
            <a:ext cx="69249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34F91-4AA8-A3AE-30E7-D9E857FA1C0F}"/>
              </a:ext>
            </a:extLst>
          </p:cNvPr>
          <p:cNvSpPr/>
          <p:nvPr/>
        </p:nvSpPr>
        <p:spPr>
          <a:xfrm>
            <a:off x="1137139" y="2543907"/>
            <a:ext cx="6084276" cy="3798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Manual process is time-consuming &amp; inefficient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Students face difficulties in applying/tracking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Companies struggle to manage records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Lack of centralized monitoring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50C2B-2B6C-2C3F-D5E8-9498F127FEBF}"/>
              </a:ext>
            </a:extLst>
          </p:cNvPr>
          <p:cNvSpPr/>
          <p:nvPr/>
        </p:nvSpPr>
        <p:spPr>
          <a:xfrm>
            <a:off x="7858783" y="2543907"/>
            <a:ext cx="6279247" cy="3798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To create a digital platform for students, companies, and admins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Simplify internship application &amp; tracking process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Enable students to submit details &amp; feedback online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Provide admin with centralized monitoring &amp; reporting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38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5252" y="6851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31055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/>
              <a:t>To create a digital platform for students, companies, and admins</a:t>
            </a:r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 Processes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Simplify applications, evaluations, and certificate generation.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Tracking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 admins to monitor progress and assign mentors.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Feedback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structured feedback for continuous intern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ED46B-6C9F-9371-0F30-2193ACE0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9A715B-AA86-2629-5BA8-8C596DB5C75D}"/>
              </a:ext>
            </a:extLst>
          </p:cNvPr>
          <p:cNvSpPr txBox="1"/>
          <p:nvPr/>
        </p:nvSpPr>
        <p:spPr>
          <a:xfrm>
            <a:off x="1249741" y="445422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Algerian" panose="04020705040A02060702" pitchFamily="82" charset="0"/>
              </a:rPr>
              <a:t>Features</a:t>
            </a:r>
            <a:endParaRPr lang="en-US" sz="48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041082-157E-A2A2-5E3D-4C99309C7EAD}"/>
              </a:ext>
            </a:extLst>
          </p:cNvPr>
          <p:cNvSpPr/>
          <p:nvPr/>
        </p:nvSpPr>
        <p:spPr>
          <a:xfrm>
            <a:off x="1137139" y="3083761"/>
            <a:ext cx="5529879" cy="3798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82E04C-052C-EC06-992B-78DEA47794E2}"/>
              </a:ext>
            </a:extLst>
          </p:cNvPr>
          <p:cNvSpPr/>
          <p:nvPr/>
        </p:nvSpPr>
        <p:spPr>
          <a:xfrm>
            <a:off x="8736888" y="2998541"/>
            <a:ext cx="5077050" cy="37982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504B25-64F0-C3A6-42A3-E46E811CE14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49741" y="4013403"/>
            <a:ext cx="5073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Secure Registration &amp;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Fill all the details of their internship 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Upload offer letter &amp;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Receive feedback &amp; performance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Upload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certificate after completion.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Post company reviews.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AFD613-3C43-BD41-72D5-ECB98FEF6E0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909822" y="3882018"/>
            <a:ext cx="490411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Secure Admin Login..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View applications by course &amp;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Review submissions &amp; provide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Download students offer letters and certificates.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Moderate company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Export student performance reports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AAE5EB-3FA0-2C14-B7D3-45A2C2C5578A}"/>
              </a:ext>
            </a:extLst>
          </p:cNvPr>
          <p:cNvSpPr/>
          <p:nvPr/>
        </p:nvSpPr>
        <p:spPr>
          <a:xfrm>
            <a:off x="1929966" y="1929161"/>
            <a:ext cx="2977375" cy="83099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Intern View(Student view)</a:t>
            </a:r>
            <a:endParaRPr lang="en-IN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9DF595-ACCA-6FD3-03B4-BDDB1F0B2F70}"/>
              </a:ext>
            </a:extLst>
          </p:cNvPr>
          <p:cNvSpPr/>
          <p:nvPr/>
        </p:nvSpPr>
        <p:spPr>
          <a:xfrm>
            <a:off x="9613881" y="1929160"/>
            <a:ext cx="3323063" cy="83099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 View(Teacher’s View)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98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366017-E8D9-ED24-C171-F0329E27E9A1}"/>
              </a:ext>
            </a:extLst>
          </p:cNvPr>
          <p:cNvSpPr/>
          <p:nvPr/>
        </p:nvSpPr>
        <p:spPr>
          <a:xfrm>
            <a:off x="5848815" y="479501"/>
            <a:ext cx="2932770" cy="108166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SDG LEVEL</a:t>
            </a: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8CC11-8C68-D03B-1B8B-C58FCA565F5A}"/>
              </a:ext>
            </a:extLst>
          </p:cNvPr>
          <p:cNvSpPr/>
          <p:nvPr/>
        </p:nvSpPr>
        <p:spPr>
          <a:xfrm>
            <a:off x="1728439" y="3886200"/>
            <a:ext cx="8240752" cy="2113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Manages internships through a digital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Strengthens collaboration between industry and academia.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Creates an innovative internship matching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088407-3B15-EB79-6AD0-5F5A8028E0B4}"/>
              </a:ext>
            </a:extLst>
          </p:cNvPr>
          <p:cNvSpPr txBox="1"/>
          <p:nvPr/>
        </p:nvSpPr>
        <p:spPr>
          <a:xfrm>
            <a:off x="4560849" y="2185639"/>
            <a:ext cx="6924907" cy="83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SDG 9 – Industry, Innovation and Infrastructure 🏗️</a:t>
            </a:r>
            <a:endParaRPr lang="en-IN" sz="2400" b="1" dirty="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7833A8-F2E1-239A-3A6B-2C0165A8E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89" y="3017307"/>
            <a:ext cx="3156840" cy="298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8445" y="4942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Control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2373511"/>
            <a:ext cx="306110" cy="38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Creation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Login and Register 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330369" y="187400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62" y="2373511"/>
            <a:ext cx="306110" cy="3826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Candidate Review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62235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Quickly select or reject applicants.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390" y="5192673"/>
            <a:ext cx="306110" cy="3826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Progress Monitoring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submissions, timesheets, and reports.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48" y="5192673"/>
            <a:ext cx="306110" cy="3826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5951101"/>
            <a:ext cx="3043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Evaluation &amp; Certificates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feedback, evaluate performance, and issue certificates.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C6766B-9CD8-408C-980F-CE7790A754FB}"/>
              </a:ext>
            </a:extLst>
          </p:cNvPr>
          <p:cNvSpPr/>
          <p:nvPr/>
        </p:nvSpPr>
        <p:spPr>
          <a:xfrm>
            <a:off x="5787483" y="189572"/>
            <a:ext cx="3780262" cy="68022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 FLOW DIAGRAM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1A622-B30B-18BC-879D-A4459EED9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332" y="1416205"/>
            <a:ext cx="6244683" cy="6813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395A5B-6777-83FE-31FD-6A6A6590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147" y="1416204"/>
            <a:ext cx="6434254" cy="68133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678D96-7DF9-5058-4BD0-C221A8A92880}"/>
              </a:ext>
            </a:extLst>
          </p:cNvPr>
          <p:cNvSpPr/>
          <p:nvPr/>
        </p:nvSpPr>
        <p:spPr>
          <a:xfrm>
            <a:off x="3456878" y="596593"/>
            <a:ext cx="1583473" cy="54640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INTERN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5980F-75EC-14A1-D48D-AC09394EF5E2}"/>
              </a:ext>
            </a:extLst>
          </p:cNvPr>
          <p:cNvSpPr/>
          <p:nvPr/>
        </p:nvSpPr>
        <p:spPr>
          <a:xfrm>
            <a:off x="10872439" y="618893"/>
            <a:ext cx="1773044" cy="52410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722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766" y="13848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1824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MongoDB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Database for users, tasks, applications, evaluations, and feedback.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11824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Express.js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 framework for building APIs and handling server requests.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React.js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54783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Frontend library for a fast, interactive, user-friendly interface.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Node.js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54783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Server-side JavaScript runtime for backend services.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729A20-6595-EB35-24C9-208D28858036}"/>
              </a:ext>
            </a:extLst>
          </p:cNvPr>
          <p:cNvSpPr/>
          <p:nvPr/>
        </p:nvSpPr>
        <p:spPr>
          <a:xfrm>
            <a:off x="6612673" y="646771"/>
            <a:ext cx="2074127" cy="64677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TIMELINE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A609A-4C21-226A-E7A4-DF07B126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447" y="2108689"/>
            <a:ext cx="9052578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6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5462" y="363206"/>
            <a:ext cx="5519737" cy="807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36508" y="1432084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671" y="1466136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27415" y="1494592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Resume Screening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27415" y="1887736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Faster shortlisting of interns.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6508" y="2542223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671" y="2576274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27415" y="2604730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Application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27415" y="2997875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Easy access to tasks on the go.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6508" y="3652361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671" y="3686413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27415" y="3714869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Matching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27415" y="4108013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AI-based intern-mentor matching.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6508" y="4762500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671" y="4796552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27415" y="4825008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Stipend Management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27415" y="5218152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Automatic payment tracking.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6508" y="5872639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671" y="5906691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27415" y="5935147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Chatbot Support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27415" y="6328291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Instant answers and guidance.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6508" y="6982778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671" y="7016829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27415" y="704528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LMS Integration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227415" y="7438430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Link learning with internship tasks.</a:t>
            </a:r>
            <a:endParaRPr lang="en-US" sz="14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6036FD6E-DB04-D933-85D8-0CF57997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946" y="1610439"/>
            <a:ext cx="6523454" cy="6523454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C2D1F"/>
      </a:dk2>
      <a:lt2>
        <a:srgbClr val="FAF2C5"/>
      </a:lt2>
      <a:accent1>
        <a:srgbClr val="EA9736"/>
      </a:accent1>
      <a:accent2>
        <a:srgbClr val="EACF56"/>
      </a:accent2>
      <a:accent3>
        <a:srgbClr val="77D4D6"/>
      </a:accent3>
      <a:accent4>
        <a:srgbClr val="54AFDC"/>
      </a:accent4>
      <a:accent5>
        <a:srgbClr val="88C363"/>
      </a:accent5>
      <a:accent6>
        <a:srgbClr val="D9D899"/>
      </a:accent6>
      <a:hlink>
        <a:srgbClr val="A7A574"/>
      </a:hlink>
      <a:folHlink>
        <a:srgbClr val="8B887A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9B359FC9-1E88-4883-B31D-CCECAE2A7B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95</TotalTime>
  <Words>453</Words>
  <Application>Microsoft Office PowerPoint</Application>
  <PresentationFormat>Custom</PresentationFormat>
  <Paragraphs>97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Kanit Light</vt:lpstr>
      <vt:lpstr>Wingdings 3</vt:lpstr>
      <vt:lpstr>Martel Sans</vt:lpstr>
      <vt:lpstr>Algerian</vt:lpstr>
      <vt:lpstr>Trebuchet MS</vt:lpstr>
      <vt:lpstr>Times New Roman</vt:lpstr>
      <vt:lpstr>Calibri</vt:lpstr>
      <vt:lpstr>MS Shell Dlg 2</vt:lpstr>
      <vt:lpstr>Wingdings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Mansi Garg</dc:creator>
  <cp:lastModifiedBy>MANSI GARG</cp:lastModifiedBy>
  <cp:revision>7</cp:revision>
  <dcterms:created xsi:type="dcterms:W3CDTF">2025-08-18T17:45:53Z</dcterms:created>
  <dcterms:modified xsi:type="dcterms:W3CDTF">2025-12-10T04:59:13Z</dcterms:modified>
</cp:coreProperties>
</file>