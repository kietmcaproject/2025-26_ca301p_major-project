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447" autoAdjust="0"/>
  </p:normalViewPr>
  <p:slideViewPr>
    <p:cSldViewPr showGuides="1">
      <p:cViewPr varScale="1">
        <p:scale>
          <a:sx n="39" d="100"/>
          <a:sy n="39" d="100"/>
        </p:scale>
        <p:origin x="2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wallpaperflare.com/wlan-technology-background-computer-internet-network-digital-wallpaper-aidgg" TargetMode="Externa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37721"/>
            <a:ext cx="16916400" cy="95257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0E1E16C-20FC-D190-795F-D4D634968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75" y="800100"/>
            <a:ext cx="18251135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6107" y="-1033"/>
            <a:ext cx="18288000" cy="10287000"/>
            <a:chOff x="10160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10160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CF9F7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49625" y="9686925"/>
            <a:ext cx="2152649" cy="514350"/>
            <a:chOff x="0" y="0"/>
            <a:chExt cx="2870198" cy="68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70200" cy="685800"/>
            </a:xfrm>
            <a:custGeom>
              <a:avLst/>
              <a:gdLst/>
              <a:ahLst/>
              <a:cxnLst/>
              <a:rect l="l" t="t" r="r" b="b"/>
              <a:pathLst>
                <a:path w="2870200" h="685800">
                  <a:moveTo>
                    <a:pt x="0" y="0"/>
                  </a:moveTo>
                  <a:lnTo>
                    <a:pt x="2870200" y="0"/>
                  </a:lnTo>
                  <a:lnTo>
                    <a:pt x="2870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r="-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76360" y="1935717"/>
            <a:ext cx="10299699" cy="81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Key Project Objectives:</a:t>
            </a:r>
          </a:p>
        </p:txBody>
      </p:sp>
      <p:sp>
        <p:nvSpPr>
          <p:cNvPr id="7" name="Freeform 7"/>
          <p:cNvSpPr/>
          <p:nvPr/>
        </p:nvSpPr>
        <p:spPr>
          <a:xfrm>
            <a:off x="954404" y="3545395"/>
            <a:ext cx="8067421" cy="2238375"/>
          </a:xfrm>
          <a:custGeom>
            <a:avLst/>
            <a:gdLst/>
            <a:ahLst/>
            <a:cxnLst/>
            <a:rect l="l" t="t" r="r" b="b"/>
            <a:pathLst>
              <a:path w="8067421" h="2238375">
                <a:moveTo>
                  <a:pt x="0" y="0"/>
                </a:moveTo>
                <a:lnTo>
                  <a:pt x="8067421" y="0"/>
                </a:lnTo>
                <a:lnTo>
                  <a:pt x="8067421" y="2238375"/>
                </a:lnTo>
                <a:lnTo>
                  <a:pt x="0" y="223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12288" y="3846369"/>
            <a:ext cx="7100094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0" b="1" spc="-12" dirty="0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Enhance Accessibility</a:t>
            </a:r>
          </a:p>
          <a:p>
            <a:pPr algn="l">
              <a:lnSpc>
                <a:spcPts val="3560"/>
              </a:lnSpc>
            </a:pPr>
            <a:r>
              <a:rPr lang="en-US" sz="2185" spc="-31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Provide a user-friendly web platform for students to easily file complaints anytime, anywhere.</a:t>
            </a:r>
          </a:p>
        </p:txBody>
      </p:sp>
      <p:sp>
        <p:nvSpPr>
          <p:cNvPr id="9" name="Freeform 9"/>
          <p:cNvSpPr/>
          <p:nvPr/>
        </p:nvSpPr>
        <p:spPr>
          <a:xfrm>
            <a:off x="9246869" y="3545395"/>
            <a:ext cx="8068390" cy="2238375"/>
          </a:xfrm>
          <a:custGeom>
            <a:avLst/>
            <a:gdLst/>
            <a:ahLst/>
            <a:cxnLst/>
            <a:rect l="l" t="t" r="r" b="b"/>
            <a:pathLst>
              <a:path w="8068390" h="2238375">
                <a:moveTo>
                  <a:pt x="0" y="0"/>
                </a:moveTo>
                <a:lnTo>
                  <a:pt x="8068390" y="0"/>
                </a:lnTo>
                <a:lnTo>
                  <a:pt x="8068390" y="2238375"/>
                </a:lnTo>
                <a:lnTo>
                  <a:pt x="0" y="2238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705720" y="3846369"/>
            <a:ext cx="6815138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0" b="1" spc="-12" dirty="0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Improve Transparency</a:t>
            </a:r>
          </a:p>
          <a:p>
            <a:pPr algn="l">
              <a:lnSpc>
                <a:spcPts val="3560"/>
              </a:lnSpc>
            </a:pPr>
            <a:r>
              <a:rPr lang="en-US" sz="2185" spc="-43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Offer real-time tracking of complaint statuses and clear communication channels.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4404" y="6036912"/>
            <a:ext cx="8067421" cy="2238375"/>
          </a:xfrm>
          <a:custGeom>
            <a:avLst/>
            <a:gdLst/>
            <a:ahLst/>
            <a:cxnLst/>
            <a:rect l="l" t="t" r="r" b="b"/>
            <a:pathLst>
              <a:path w="8067421" h="2238375">
                <a:moveTo>
                  <a:pt x="0" y="0"/>
                </a:moveTo>
                <a:lnTo>
                  <a:pt x="8067421" y="0"/>
                </a:lnTo>
                <a:lnTo>
                  <a:pt x="8067421" y="2238375"/>
                </a:lnTo>
                <a:lnTo>
                  <a:pt x="0" y="22383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12288" y="6337888"/>
            <a:ext cx="6651625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0" b="1" dirty="0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Accelerate Resolution</a:t>
            </a:r>
          </a:p>
          <a:p>
            <a:pPr algn="l">
              <a:lnSpc>
                <a:spcPts val="3560"/>
              </a:lnSpc>
            </a:pPr>
            <a:r>
              <a:rPr lang="en-US" sz="2185" spc="-25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Implement a structured, hierarchical workflow to ensure timely and efficient complaint handling.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246869" y="6036912"/>
            <a:ext cx="8068390" cy="2238375"/>
          </a:xfrm>
          <a:custGeom>
            <a:avLst/>
            <a:gdLst/>
            <a:ahLst/>
            <a:cxnLst/>
            <a:rect l="l" t="t" r="r" b="b"/>
            <a:pathLst>
              <a:path w="8068390" h="2238375">
                <a:moveTo>
                  <a:pt x="0" y="0"/>
                </a:moveTo>
                <a:lnTo>
                  <a:pt x="8068390" y="0"/>
                </a:lnTo>
                <a:lnTo>
                  <a:pt x="8068390" y="2238375"/>
                </a:lnTo>
                <a:lnTo>
                  <a:pt x="0" y="2238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05720" y="6337888"/>
            <a:ext cx="6726238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0" b="1" spc="-12" dirty="0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Boost Satisfaction</a:t>
            </a:r>
          </a:p>
          <a:p>
            <a:pPr algn="l">
              <a:lnSpc>
                <a:spcPts val="3560"/>
              </a:lnSpc>
            </a:pPr>
            <a:r>
              <a:rPr lang="en-US" sz="2185" spc="-50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Increase student trust and satisfaction by demonstrating responsiveness to their feedback.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1033" y="-1033"/>
            <a:ext cx="18290381" cy="10289381"/>
            <a:chOff x="0" y="0"/>
            <a:chExt cx="24387175" cy="137191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6795" cy="13718795"/>
            </a:xfrm>
            <a:custGeom>
              <a:avLst/>
              <a:gdLst/>
              <a:ahLst/>
              <a:cxnLst/>
              <a:rect l="l" t="t" r="r" b="b"/>
              <a:pathLst>
                <a:path w="24386795" h="13718795">
                  <a:moveTo>
                    <a:pt x="2667" y="0"/>
                  </a:moveTo>
                  <a:lnTo>
                    <a:pt x="24384127" y="0"/>
                  </a:lnTo>
                  <a:cubicBezTo>
                    <a:pt x="24385651" y="0"/>
                    <a:pt x="24386795" y="1143"/>
                    <a:pt x="24386795" y="2667"/>
                  </a:cubicBezTo>
                  <a:lnTo>
                    <a:pt x="24386795" y="13716127"/>
                  </a:lnTo>
                  <a:cubicBezTo>
                    <a:pt x="24386795" y="13717651"/>
                    <a:pt x="24385651" y="13718795"/>
                    <a:pt x="24384127" y="13718795"/>
                  </a:cubicBezTo>
                  <a:lnTo>
                    <a:pt x="2667" y="13718795"/>
                  </a:lnTo>
                  <a:cubicBezTo>
                    <a:pt x="1143" y="13718795"/>
                    <a:pt x="0" y="13717651"/>
                    <a:pt x="0" y="13716127"/>
                  </a:cubicBezTo>
                  <a:lnTo>
                    <a:pt x="0" y="2667"/>
                  </a:lnTo>
                  <a:cubicBezTo>
                    <a:pt x="0" y="1143"/>
                    <a:pt x="1143" y="0"/>
                    <a:pt x="2667" y="0"/>
                  </a:cubicBezTo>
                  <a:moveTo>
                    <a:pt x="2667" y="5334"/>
                  </a:moveTo>
                  <a:lnTo>
                    <a:pt x="2667" y="2667"/>
                  </a:lnTo>
                  <a:lnTo>
                    <a:pt x="5334" y="2667"/>
                  </a:lnTo>
                  <a:lnTo>
                    <a:pt x="5334" y="13716127"/>
                  </a:lnTo>
                  <a:lnTo>
                    <a:pt x="2667" y="13716127"/>
                  </a:lnTo>
                  <a:lnTo>
                    <a:pt x="2667" y="13713461"/>
                  </a:lnTo>
                  <a:lnTo>
                    <a:pt x="24384127" y="13713461"/>
                  </a:lnTo>
                  <a:lnTo>
                    <a:pt x="24384127" y="13716127"/>
                  </a:lnTo>
                  <a:lnTo>
                    <a:pt x="24381461" y="13716127"/>
                  </a:lnTo>
                  <a:lnTo>
                    <a:pt x="24381461" y="2667"/>
                  </a:lnTo>
                  <a:lnTo>
                    <a:pt x="24384127" y="2667"/>
                  </a:lnTo>
                  <a:lnTo>
                    <a:pt x="24384127" y="5334"/>
                  </a:lnTo>
                  <a:lnTo>
                    <a:pt x="2667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964204" y="9180162"/>
            <a:ext cx="3401344" cy="3331260"/>
          </a:xfrm>
          <a:custGeom>
            <a:avLst/>
            <a:gdLst/>
            <a:ahLst/>
            <a:cxnLst/>
            <a:rect l="l" t="t" r="r" b="b"/>
            <a:pathLst>
              <a:path w="3401344" h="3331260">
                <a:moveTo>
                  <a:pt x="0" y="0"/>
                </a:moveTo>
                <a:lnTo>
                  <a:pt x="3401344" y="0"/>
                </a:lnTo>
                <a:lnTo>
                  <a:pt x="3401344" y="3331261"/>
                </a:lnTo>
                <a:lnTo>
                  <a:pt x="0" y="33312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4838" t="-84297" r="-68845" b="-6274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CF9F7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49625" y="9686925"/>
            <a:ext cx="2152649" cy="514350"/>
            <a:chOff x="0" y="0"/>
            <a:chExt cx="2870198" cy="68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70200" cy="685800"/>
            </a:xfrm>
            <a:custGeom>
              <a:avLst/>
              <a:gdLst/>
              <a:ahLst/>
              <a:cxnLst/>
              <a:rect l="l" t="t" r="r" b="b"/>
              <a:pathLst>
                <a:path w="2870200" h="685800">
                  <a:moveTo>
                    <a:pt x="0" y="0"/>
                  </a:moveTo>
                  <a:lnTo>
                    <a:pt x="2870200" y="0"/>
                  </a:lnTo>
                  <a:lnTo>
                    <a:pt x="2870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r="-14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65501" y="921989"/>
            <a:ext cx="13850635" cy="44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0" b="1" dirty="0">
                <a:solidFill>
                  <a:srgbClr val="6137C7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Project Scope: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8735" y="1751471"/>
            <a:ext cx="9540081" cy="606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5"/>
              </a:lnSpc>
            </a:pPr>
            <a:r>
              <a:rPr lang="en-US" sz="6125" b="1" dirty="0">
                <a:solidFill>
                  <a:schemeClr val="accent1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Defining the Boundaries: What's</a:t>
            </a:r>
          </a:p>
          <a:p>
            <a:pPr algn="l">
              <a:lnSpc>
                <a:spcPts val="2675"/>
              </a:lnSpc>
            </a:pPr>
            <a:endParaRPr lang="en-US" sz="2185" b="1" spc="-43" dirty="0">
              <a:solidFill>
                <a:srgbClr val="272424"/>
              </a:solidFill>
              <a:latin typeface="Times New Roman" panose="02020603050405020304" pitchFamily="18" charset="0"/>
              <a:ea typeface="Tahoma Bold" panose="020B0804030504040204"/>
              <a:cs typeface="Times New Roman" panose="02020603050405020304" pitchFamily="18" charset="0"/>
              <a:sym typeface="Tahoma Bold" panose="020B0804030504040204"/>
            </a:endParaRPr>
          </a:p>
          <a:p>
            <a:pPr algn="l">
              <a:lnSpc>
                <a:spcPts val="2675"/>
              </a:lnSpc>
            </a:pPr>
            <a:r>
              <a:rPr lang="en-US" sz="2185" b="1" spc="-43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The e-complaint system focuses on core functionalities to manage student grievances effectively.</a:t>
            </a:r>
          </a:p>
          <a:p>
            <a:pPr algn="l">
              <a:lnSpc>
                <a:spcPts val="3560"/>
              </a:lnSpc>
            </a:pPr>
            <a:r>
              <a:rPr lang="en-US" sz="2185" b="1" spc="-31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In-Scope: </a:t>
            </a:r>
            <a:r>
              <a:rPr lang="en-US" sz="2185" spc="-31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Student registration/login, complaint submission (with attachments), status tracking, multi-level review workflow (CR, Class Coordinator, Department), notification system, and action logging.</a:t>
            </a:r>
            <a:endParaRPr lang="en-US" sz="2185" b="1" spc="-31" dirty="0">
              <a:solidFill>
                <a:srgbClr val="272424"/>
              </a:solidFill>
              <a:latin typeface="Times New Roman" panose="02020603050405020304" pitchFamily="18" charset="0"/>
              <a:ea typeface="Tahoma Bold" panose="020B0804030504040204"/>
              <a:cs typeface="Times New Roman" panose="02020603050405020304" pitchFamily="18" charset="0"/>
              <a:sym typeface="Tahoma Bold" panose="020B0804030504040204"/>
            </a:endParaRPr>
          </a:p>
          <a:p>
            <a:pPr algn="l">
              <a:lnSpc>
                <a:spcPts val="2625"/>
              </a:lnSpc>
            </a:pPr>
            <a:endParaRPr lang="en-US" sz="2185" b="1" spc="-31" dirty="0">
              <a:solidFill>
                <a:srgbClr val="272424"/>
              </a:solidFill>
              <a:latin typeface="Times New Roman" panose="02020603050405020304" pitchFamily="18" charset="0"/>
              <a:ea typeface="Tahoma Bold" panose="020B0804030504040204"/>
              <a:cs typeface="Times New Roman" panose="02020603050405020304" pitchFamily="18" charset="0"/>
              <a:sym typeface="Tahoma Bold" panose="020B0804030504040204"/>
            </a:endParaRPr>
          </a:p>
          <a:p>
            <a:pPr algn="just">
              <a:lnSpc>
                <a:spcPts val="3560"/>
              </a:lnSpc>
            </a:pPr>
            <a:r>
              <a:rPr lang="en-US" sz="2185" b="1" spc="-25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Out-of-Scope: Integration with external HR or payroll systems, direct disciplinary action implementation, or complex sentiment analysis of complaints. These areas may be considered in future phases.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033" y="-1033"/>
            <a:ext cx="18290381" cy="10289381"/>
            <a:chOff x="0" y="0"/>
            <a:chExt cx="24387175" cy="137191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6795" cy="13718795"/>
            </a:xfrm>
            <a:custGeom>
              <a:avLst/>
              <a:gdLst/>
              <a:ahLst/>
              <a:cxnLst/>
              <a:rect l="l" t="t" r="r" b="b"/>
              <a:pathLst>
                <a:path w="24386795" h="13718795">
                  <a:moveTo>
                    <a:pt x="2667" y="0"/>
                  </a:moveTo>
                  <a:lnTo>
                    <a:pt x="24384127" y="0"/>
                  </a:lnTo>
                  <a:cubicBezTo>
                    <a:pt x="24385651" y="0"/>
                    <a:pt x="24386795" y="1143"/>
                    <a:pt x="24386795" y="2667"/>
                  </a:cubicBezTo>
                  <a:lnTo>
                    <a:pt x="24386795" y="13716127"/>
                  </a:lnTo>
                  <a:cubicBezTo>
                    <a:pt x="24386795" y="13717651"/>
                    <a:pt x="24385651" y="13718795"/>
                    <a:pt x="24384127" y="13718795"/>
                  </a:cubicBezTo>
                  <a:lnTo>
                    <a:pt x="2667" y="13718795"/>
                  </a:lnTo>
                  <a:cubicBezTo>
                    <a:pt x="1143" y="13718795"/>
                    <a:pt x="0" y="13717651"/>
                    <a:pt x="0" y="13716127"/>
                  </a:cubicBezTo>
                  <a:lnTo>
                    <a:pt x="0" y="2667"/>
                  </a:lnTo>
                  <a:cubicBezTo>
                    <a:pt x="0" y="1143"/>
                    <a:pt x="1143" y="0"/>
                    <a:pt x="2667" y="0"/>
                  </a:cubicBezTo>
                  <a:moveTo>
                    <a:pt x="2667" y="5334"/>
                  </a:moveTo>
                  <a:lnTo>
                    <a:pt x="2667" y="2667"/>
                  </a:lnTo>
                  <a:lnTo>
                    <a:pt x="5334" y="2667"/>
                  </a:lnTo>
                  <a:lnTo>
                    <a:pt x="5334" y="13716127"/>
                  </a:lnTo>
                  <a:lnTo>
                    <a:pt x="2667" y="13716127"/>
                  </a:lnTo>
                  <a:lnTo>
                    <a:pt x="2667" y="13713461"/>
                  </a:lnTo>
                  <a:lnTo>
                    <a:pt x="24384127" y="13713461"/>
                  </a:lnTo>
                  <a:lnTo>
                    <a:pt x="24384127" y="13716127"/>
                  </a:lnTo>
                  <a:lnTo>
                    <a:pt x="24381461" y="13716127"/>
                  </a:lnTo>
                  <a:lnTo>
                    <a:pt x="24381461" y="2667"/>
                  </a:lnTo>
                  <a:lnTo>
                    <a:pt x="24384127" y="2667"/>
                  </a:lnTo>
                  <a:lnTo>
                    <a:pt x="24384127" y="5334"/>
                  </a:lnTo>
                  <a:lnTo>
                    <a:pt x="2667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0678D7D-E44D-C300-7883-277C203AE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8436" y="10885"/>
            <a:ext cx="685799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CF9F7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49625" y="9686925"/>
            <a:ext cx="2152649" cy="514350"/>
            <a:chOff x="0" y="0"/>
            <a:chExt cx="2870198" cy="68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70200" cy="685800"/>
            </a:xfrm>
            <a:custGeom>
              <a:avLst/>
              <a:gdLst/>
              <a:ahLst/>
              <a:cxnLst/>
              <a:rect l="l" t="t" r="r" b="b"/>
              <a:pathLst>
                <a:path w="2870200" h="685800">
                  <a:moveTo>
                    <a:pt x="0" y="0"/>
                  </a:moveTo>
                  <a:lnTo>
                    <a:pt x="2870200" y="0"/>
                  </a:lnTo>
                  <a:lnTo>
                    <a:pt x="2870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r="-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65501" y="635922"/>
            <a:ext cx="13850635" cy="88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5"/>
              </a:lnSpc>
            </a:pPr>
            <a:r>
              <a:rPr lang="en-US" sz="6060" b="1" dirty="0">
                <a:solidFill>
                  <a:schemeClr val="accent1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Product Vision &amp; Hierarchy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5501" y="2178192"/>
            <a:ext cx="16309975" cy="129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5" b="1" spc="-25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Our goal is to build a robust web platform where students can file complaints directly to their institution, fostering a transparent and accountable process. Complaints will move through a structured three-level hierarchy to ensure proper validation, classification, and resolution.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81074" y="3956685"/>
            <a:ext cx="16325850" cy="1122045"/>
            <a:chOff x="0" y="0"/>
            <a:chExt cx="21767800" cy="1496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67800" cy="1496060"/>
            </a:xfrm>
            <a:custGeom>
              <a:avLst/>
              <a:gdLst/>
              <a:ahLst/>
              <a:cxnLst/>
              <a:rect l="l" t="t" r="r" b="b"/>
              <a:pathLst>
                <a:path w="21767800" h="1496060">
                  <a:moveTo>
                    <a:pt x="0" y="0"/>
                  </a:moveTo>
                  <a:lnTo>
                    <a:pt x="21767800" y="0"/>
                  </a:lnTo>
                  <a:lnTo>
                    <a:pt x="21767800" y="1496060"/>
                  </a:lnTo>
                  <a:lnTo>
                    <a:pt x="0" y="149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4" b="-8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45885" y="5311870"/>
            <a:ext cx="429736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12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Student</a:t>
            </a:r>
          </a:p>
          <a:p>
            <a:pPr algn="l">
              <a:lnSpc>
                <a:spcPts val="2625"/>
              </a:lnSpc>
            </a:pPr>
            <a:r>
              <a:rPr lang="en-US" sz="2185" b="1" spc="-43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Initiates the complaint process.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8509" y="5311870"/>
            <a:ext cx="529034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Complaint Reviewer (CR)</a:t>
            </a:r>
          </a:p>
          <a:p>
            <a:pPr algn="l">
              <a:lnSpc>
                <a:spcPts val="2625"/>
              </a:lnSpc>
            </a:pPr>
            <a:r>
              <a:rPr lang="en-US" sz="2185" b="1" spc="-12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Checks validity and content.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81074" y="6737985"/>
            <a:ext cx="16325850" cy="1122045"/>
            <a:chOff x="0" y="0"/>
            <a:chExt cx="21767800" cy="14960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67800" cy="1496060"/>
            </a:xfrm>
            <a:custGeom>
              <a:avLst/>
              <a:gdLst/>
              <a:ahLst/>
              <a:cxnLst/>
              <a:rect l="l" t="t" r="r" b="b"/>
              <a:pathLst>
                <a:path w="21767800" h="1496060">
                  <a:moveTo>
                    <a:pt x="0" y="0"/>
                  </a:moveTo>
                  <a:lnTo>
                    <a:pt x="21767800" y="0"/>
                  </a:lnTo>
                  <a:lnTo>
                    <a:pt x="21767800" y="1496060"/>
                  </a:lnTo>
                  <a:lnTo>
                    <a:pt x="0" y="149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4" b="-8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245885" y="8092868"/>
            <a:ext cx="461486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12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Class Coordinator</a:t>
            </a:r>
          </a:p>
          <a:p>
            <a:pPr algn="l">
              <a:lnSpc>
                <a:spcPts val="2625"/>
              </a:lnSpc>
            </a:pPr>
            <a:r>
              <a:rPr lang="en-US" sz="2185" b="1" spc="-9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Verifies, classifies, and forwards.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8509" y="8092868"/>
            <a:ext cx="452755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12">
                <a:solidFill>
                  <a:srgbClr val="272424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Department</a:t>
            </a:r>
          </a:p>
          <a:p>
            <a:pPr algn="l">
              <a:lnSpc>
                <a:spcPts val="2625"/>
              </a:lnSpc>
            </a:pPr>
            <a:r>
              <a:rPr lang="en-US" sz="2185" b="1" spc="-12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Takes action and updates status.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1033" y="-1033"/>
            <a:ext cx="18290381" cy="10289381"/>
            <a:chOff x="0" y="0"/>
            <a:chExt cx="24387175" cy="137191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6795" cy="13718795"/>
            </a:xfrm>
            <a:custGeom>
              <a:avLst/>
              <a:gdLst/>
              <a:ahLst/>
              <a:cxnLst/>
              <a:rect l="l" t="t" r="r" b="b"/>
              <a:pathLst>
                <a:path w="24386795" h="13718795">
                  <a:moveTo>
                    <a:pt x="2667" y="0"/>
                  </a:moveTo>
                  <a:lnTo>
                    <a:pt x="24384127" y="0"/>
                  </a:lnTo>
                  <a:cubicBezTo>
                    <a:pt x="24385651" y="0"/>
                    <a:pt x="24386795" y="1143"/>
                    <a:pt x="24386795" y="2667"/>
                  </a:cubicBezTo>
                  <a:lnTo>
                    <a:pt x="24386795" y="13716127"/>
                  </a:lnTo>
                  <a:cubicBezTo>
                    <a:pt x="24386795" y="13717651"/>
                    <a:pt x="24385651" y="13718795"/>
                    <a:pt x="24384127" y="13718795"/>
                  </a:cubicBezTo>
                  <a:lnTo>
                    <a:pt x="2667" y="13718795"/>
                  </a:lnTo>
                  <a:cubicBezTo>
                    <a:pt x="1143" y="13718795"/>
                    <a:pt x="0" y="13717651"/>
                    <a:pt x="0" y="13716127"/>
                  </a:cubicBezTo>
                  <a:lnTo>
                    <a:pt x="0" y="2667"/>
                  </a:lnTo>
                  <a:cubicBezTo>
                    <a:pt x="0" y="1143"/>
                    <a:pt x="1143" y="0"/>
                    <a:pt x="2667" y="0"/>
                  </a:cubicBezTo>
                  <a:moveTo>
                    <a:pt x="2667" y="5334"/>
                  </a:moveTo>
                  <a:lnTo>
                    <a:pt x="2667" y="2667"/>
                  </a:lnTo>
                  <a:lnTo>
                    <a:pt x="5334" y="2667"/>
                  </a:lnTo>
                  <a:lnTo>
                    <a:pt x="5334" y="13716127"/>
                  </a:lnTo>
                  <a:lnTo>
                    <a:pt x="2667" y="13716127"/>
                  </a:lnTo>
                  <a:lnTo>
                    <a:pt x="2667" y="13713461"/>
                  </a:lnTo>
                  <a:lnTo>
                    <a:pt x="24384127" y="13713461"/>
                  </a:lnTo>
                  <a:lnTo>
                    <a:pt x="24384127" y="13716127"/>
                  </a:lnTo>
                  <a:lnTo>
                    <a:pt x="24381461" y="13716127"/>
                  </a:lnTo>
                  <a:lnTo>
                    <a:pt x="24381461" y="2667"/>
                  </a:lnTo>
                  <a:lnTo>
                    <a:pt x="24384127" y="2667"/>
                  </a:lnTo>
                  <a:lnTo>
                    <a:pt x="24384127" y="5334"/>
                  </a:lnTo>
                  <a:lnTo>
                    <a:pt x="2667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4970012" y="8764303"/>
            <a:ext cx="3319336" cy="3048090"/>
          </a:xfrm>
          <a:custGeom>
            <a:avLst/>
            <a:gdLst/>
            <a:ahLst/>
            <a:cxnLst/>
            <a:rect l="l" t="t" r="r" b="b"/>
            <a:pathLst>
              <a:path w="3319336" h="3048090">
                <a:moveTo>
                  <a:pt x="0" y="0"/>
                </a:moveTo>
                <a:lnTo>
                  <a:pt x="3319336" y="0"/>
                </a:lnTo>
                <a:lnTo>
                  <a:pt x="3319336" y="3048090"/>
                </a:lnTo>
                <a:lnTo>
                  <a:pt x="0" y="30480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400" t="-52887" r="-89551" b="-11710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33" y="69396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CF9F7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49625" y="9686925"/>
            <a:ext cx="2152649" cy="514350"/>
            <a:chOff x="0" y="0"/>
            <a:chExt cx="2870198" cy="68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70200" cy="685800"/>
            </a:xfrm>
            <a:custGeom>
              <a:avLst/>
              <a:gdLst/>
              <a:ahLst/>
              <a:cxnLst/>
              <a:rect l="l" t="t" r="r" b="b"/>
              <a:pathLst>
                <a:path w="2870200" h="685800">
                  <a:moveTo>
                    <a:pt x="0" y="0"/>
                  </a:moveTo>
                  <a:lnTo>
                    <a:pt x="2870200" y="0"/>
                  </a:lnTo>
                  <a:lnTo>
                    <a:pt x="2870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r="-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257348" y="694674"/>
            <a:ext cx="3066256" cy="44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0" b="1" spc="-12" dirty="0">
                <a:solidFill>
                  <a:srgbClr val="6137C7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Core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9119" y="2002187"/>
            <a:ext cx="16246881" cy="895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6125" b="1" dirty="0">
                <a:solidFill>
                  <a:schemeClr val="accent1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Empowering Students and Administrators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6360" y="3757707"/>
            <a:ext cx="3347244" cy="53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625" b="1" spc="-12" dirty="0">
                <a:solidFill>
                  <a:srgbClr val="002060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For Students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6360" y="4752975"/>
            <a:ext cx="6858000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075" lvl="1" indent="-172720" algn="l">
              <a:lnSpc>
                <a:spcPts val="2625"/>
              </a:lnSpc>
              <a:buFont typeface="Arial" panose="020B0604020202020204"/>
              <a:buChar char="•"/>
            </a:pPr>
            <a:r>
              <a:rPr lang="en-US" sz="2185" b="1" spc="-12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Register/Login (JWT authentication)</a:t>
            </a:r>
          </a:p>
          <a:p>
            <a:pPr marL="346075" lvl="1" indent="-1727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 spc="-12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File new complaint (title, description, category, optional attachment)</a:t>
            </a:r>
          </a:p>
          <a:p>
            <a:pPr marL="346075" lvl="1" indent="-172720" algn="l">
              <a:lnSpc>
                <a:spcPts val="2625"/>
              </a:lnSpc>
              <a:buFont typeface="Arial" panose="020B0604020202020204"/>
              <a:buChar char="•"/>
            </a:pPr>
            <a:r>
              <a:rPr lang="en-US" sz="2185" b="1" spc="-43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View complaint history G statuses</a:t>
            </a:r>
          </a:p>
          <a:p>
            <a:pPr marL="346075" lvl="1" indent="-172720" algn="l">
              <a:lnSpc>
                <a:spcPts val="2625"/>
              </a:lnSpc>
              <a:buFont typeface="Arial" panose="020B0604020202020204"/>
              <a:buChar char="•"/>
            </a:pPr>
            <a:r>
              <a:rPr lang="en-US" sz="2185" b="1" spc="-56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Receive updates/notifications on progress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83534" y="3729767"/>
            <a:ext cx="6938169" cy="11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625" b="1" dirty="0">
                <a:solidFill>
                  <a:srgbClr val="002060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For Complaint Reviewers &amp; Class Coordinators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3534" y="5337571"/>
            <a:ext cx="7190581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6075" lvl="1" indent="-172720" algn="l">
              <a:lnSpc>
                <a:spcPts val="2625"/>
              </a:lnSpc>
              <a:buFont typeface="Arial" panose="020B0604020202020204"/>
              <a:buChar char="•"/>
            </a:pPr>
            <a:r>
              <a:rPr lang="en-US" sz="2185" b="1" spc="-25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Login dashboard for submitted complaints</a:t>
            </a:r>
          </a:p>
          <a:p>
            <a:pPr marL="346075" lvl="1" indent="-1727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 spc="-68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Approve/Reject/Request edits; Assign to relevant department</a:t>
            </a:r>
          </a:p>
          <a:p>
            <a:pPr marL="346075" lvl="1" indent="-172720" algn="l">
              <a:lnSpc>
                <a:spcPts val="2625"/>
              </a:lnSpc>
              <a:buFont typeface="Arial" panose="020B0604020202020204"/>
              <a:buChar char="•"/>
            </a:pPr>
            <a:r>
              <a:rPr lang="en-US" sz="2185" b="1" spc="-12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Forward to next level in hierarchy</a:t>
            </a:r>
          </a:p>
          <a:p>
            <a:pPr marL="346075" lvl="1" indent="-1727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 spc="-12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Update status ("In Progress," "Resolved"), add resolution remarks</a:t>
            </a:r>
          </a:p>
          <a:p>
            <a:pPr marL="346075" lvl="1" indent="-172720" algn="l">
              <a:lnSpc>
                <a:spcPts val="2625"/>
              </a:lnSpc>
              <a:buFont typeface="Arial" panose="020B0604020202020204"/>
              <a:buChar char="•"/>
            </a:pPr>
            <a:r>
              <a:rPr lang="en-US" sz="2185" b="1" spc="-12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Maintain action log for transparency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1033" y="-1033"/>
            <a:ext cx="18290381" cy="10289381"/>
            <a:chOff x="0" y="0"/>
            <a:chExt cx="24387175" cy="137191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6795" cy="13718795"/>
            </a:xfrm>
            <a:custGeom>
              <a:avLst/>
              <a:gdLst/>
              <a:ahLst/>
              <a:cxnLst/>
              <a:rect l="l" t="t" r="r" b="b"/>
              <a:pathLst>
                <a:path w="24386795" h="13718795">
                  <a:moveTo>
                    <a:pt x="2667" y="0"/>
                  </a:moveTo>
                  <a:lnTo>
                    <a:pt x="24384127" y="0"/>
                  </a:lnTo>
                  <a:cubicBezTo>
                    <a:pt x="24385651" y="0"/>
                    <a:pt x="24386795" y="1143"/>
                    <a:pt x="24386795" y="2667"/>
                  </a:cubicBezTo>
                  <a:lnTo>
                    <a:pt x="24386795" y="13716127"/>
                  </a:lnTo>
                  <a:cubicBezTo>
                    <a:pt x="24386795" y="13717651"/>
                    <a:pt x="24385651" y="13718795"/>
                    <a:pt x="24384127" y="13718795"/>
                  </a:cubicBezTo>
                  <a:lnTo>
                    <a:pt x="2667" y="13718795"/>
                  </a:lnTo>
                  <a:cubicBezTo>
                    <a:pt x="1143" y="13718795"/>
                    <a:pt x="0" y="13717651"/>
                    <a:pt x="0" y="13716127"/>
                  </a:cubicBezTo>
                  <a:lnTo>
                    <a:pt x="0" y="2667"/>
                  </a:lnTo>
                  <a:cubicBezTo>
                    <a:pt x="0" y="1143"/>
                    <a:pt x="1143" y="0"/>
                    <a:pt x="2667" y="0"/>
                  </a:cubicBezTo>
                  <a:moveTo>
                    <a:pt x="2667" y="5334"/>
                  </a:moveTo>
                  <a:lnTo>
                    <a:pt x="2667" y="2667"/>
                  </a:lnTo>
                  <a:lnTo>
                    <a:pt x="5334" y="2667"/>
                  </a:lnTo>
                  <a:lnTo>
                    <a:pt x="5334" y="13716127"/>
                  </a:lnTo>
                  <a:lnTo>
                    <a:pt x="2667" y="13716127"/>
                  </a:lnTo>
                  <a:lnTo>
                    <a:pt x="2667" y="13713461"/>
                  </a:lnTo>
                  <a:lnTo>
                    <a:pt x="24384127" y="13713461"/>
                  </a:lnTo>
                  <a:lnTo>
                    <a:pt x="24384127" y="13716127"/>
                  </a:lnTo>
                  <a:lnTo>
                    <a:pt x="24381461" y="13716127"/>
                  </a:lnTo>
                  <a:lnTo>
                    <a:pt x="24381461" y="2667"/>
                  </a:lnTo>
                  <a:lnTo>
                    <a:pt x="24384127" y="2667"/>
                  </a:lnTo>
                  <a:lnTo>
                    <a:pt x="24384127" y="5334"/>
                  </a:lnTo>
                  <a:lnTo>
                    <a:pt x="2667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5435953" y="9258300"/>
            <a:ext cx="3379993" cy="3189000"/>
          </a:xfrm>
          <a:custGeom>
            <a:avLst/>
            <a:gdLst/>
            <a:ahLst/>
            <a:cxnLst/>
            <a:rect l="l" t="t" r="r" b="b"/>
            <a:pathLst>
              <a:path w="3379993" h="3189000">
                <a:moveTo>
                  <a:pt x="0" y="0"/>
                </a:moveTo>
                <a:lnTo>
                  <a:pt x="3379993" y="0"/>
                </a:lnTo>
                <a:lnTo>
                  <a:pt x="3379993" y="3189000"/>
                </a:lnTo>
                <a:lnTo>
                  <a:pt x="0" y="318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978" t="-43250" r="-42236" b="-6217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E8030E6-5CD1-5150-93FF-7C97A3F8E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0" y="571500"/>
            <a:ext cx="18053571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62D019F-50CB-55DE-1BDA-E5DEE53E0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7" y="419100"/>
            <a:ext cx="17945738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38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B87A27A-0C87-6012-FC31-BCC4D6F8D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57249"/>
            <a:ext cx="18060650" cy="10015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33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CF9F7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4000" y="542744"/>
            <a:ext cx="5080000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200" b="1" dirty="0">
                <a:solidFill>
                  <a:srgbClr val="6137C7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Methodology and Timeline: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0" y="1534047"/>
            <a:ext cx="10075862" cy="520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560" b="1" dirty="0">
                <a:solidFill>
                  <a:schemeClr val="accent1"/>
                </a:solidFill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Agile Development for Timely Delivery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33600" y="2484353"/>
            <a:ext cx="14935200" cy="543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en-US" sz="2400" spc="-25" dirty="0">
                <a:solidFill>
                  <a:srgbClr val="272424"/>
                </a:solidFill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We will adopt an Agile development methodology, emphasizing iterative progress, collaboration, and adaptability. This approach allows us to deliver functional components quickly and incorporate feedback throughout the project lifecycle.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033" y="-1033"/>
            <a:ext cx="18290381" cy="10289381"/>
            <a:chOff x="0" y="0"/>
            <a:chExt cx="24387175" cy="137191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6795" cy="13718795"/>
            </a:xfrm>
            <a:custGeom>
              <a:avLst/>
              <a:gdLst/>
              <a:ahLst/>
              <a:cxnLst/>
              <a:rect l="l" t="t" r="r" b="b"/>
              <a:pathLst>
                <a:path w="24386795" h="13718795">
                  <a:moveTo>
                    <a:pt x="2667" y="0"/>
                  </a:moveTo>
                  <a:lnTo>
                    <a:pt x="24384127" y="0"/>
                  </a:lnTo>
                  <a:cubicBezTo>
                    <a:pt x="24385651" y="0"/>
                    <a:pt x="24386795" y="1143"/>
                    <a:pt x="24386795" y="2667"/>
                  </a:cubicBezTo>
                  <a:lnTo>
                    <a:pt x="24386795" y="13716127"/>
                  </a:lnTo>
                  <a:cubicBezTo>
                    <a:pt x="24386795" y="13717651"/>
                    <a:pt x="24385651" y="13718795"/>
                    <a:pt x="24384127" y="13718795"/>
                  </a:cubicBezTo>
                  <a:lnTo>
                    <a:pt x="2667" y="13718795"/>
                  </a:lnTo>
                  <a:cubicBezTo>
                    <a:pt x="1143" y="13718795"/>
                    <a:pt x="0" y="13717651"/>
                    <a:pt x="0" y="13716127"/>
                  </a:cubicBezTo>
                  <a:lnTo>
                    <a:pt x="0" y="2667"/>
                  </a:lnTo>
                  <a:cubicBezTo>
                    <a:pt x="0" y="1143"/>
                    <a:pt x="1143" y="0"/>
                    <a:pt x="2667" y="0"/>
                  </a:cubicBezTo>
                  <a:moveTo>
                    <a:pt x="2667" y="5334"/>
                  </a:moveTo>
                  <a:lnTo>
                    <a:pt x="2667" y="2667"/>
                  </a:lnTo>
                  <a:lnTo>
                    <a:pt x="5334" y="2667"/>
                  </a:lnTo>
                  <a:lnTo>
                    <a:pt x="5334" y="13716127"/>
                  </a:lnTo>
                  <a:lnTo>
                    <a:pt x="2667" y="13716127"/>
                  </a:lnTo>
                  <a:lnTo>
                    <a:pt x="2667" y="13713461"/>
                  </a:lnTo>
                  <a:lnTo>
                    <a:pt x="24384127" y="13713461"/>
                  </a:lnTo>
                  <a:lnTo>
                    <a:pt x="24384127" y="13716127"/>
                  </a:lnTo>
                  <a:lnTo>
                    <a:pt x="24381461" y="13716127"/>
                  </a:lnTo>
                  <a:lnTo>
                    <a:pt x="24381461" y="2667"/>
                  </a:lnTo>
                  <a:lnTo>
                    <a:pt x="24384127" y="2667"/>
                  </a:lnTo>
                  <a:lnTo>
                    <a:pt x="24384127" y="5334"/>
                  </a:lnTo>
                  <a:lnTo>
                    <a:pt x="2667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id="14" name="Table 1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813694"/>
              </p:ext>
            </p:extLst>
          </p:nvPr>
        </p:nvGraphicFramePr>
        <p:xfrm>
          <a:off x="2209800" y="3619500"/>
          <a:ext cx="14337030" cy="6102985"/>
        </p:xfrm>
        <a:graphic>
          <a:graphicData uri="http://schemas.openxmlformats.org/drawingml/2006/table">
            <a:tbl>
              <a:tblPr/>
              <a:tblGrid>
                <a:gridCol w="716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1800" b="1">
                          <a:latin typeface="Cambria" panose="02040503050406030204"/>
                          <a:ea typeface="Cambria" panose="02040503050406030204"/>
                        </a:rPr>
                        <a:t>Task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1200" b="1">
                          <a:latin typeface="Cambria" panose="02040503050406030204"/>
                          <a:ea typeface="Cambria" panose="02040503050406030204"/>
                        </a:rPr>
                        <a:t>Duration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Requirement Analysis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1 Week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UI/UX Design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2 Weeks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3195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Frontend &amp; Backend Development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3 Weeks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3195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Database Setup &amp; API Development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2 Weeks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Testing &amp; Debugging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2 Weeks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>
                          <a:latin typeface="Cambria" panose="02040503050406030204"/>
                          <a:ea typeface="Cambria" panose="02040503050406030204"/>
                        </a:rPr>
                        <a:t>Deployment &amp; Documentation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0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sz="4000" dirty="0">
                          <a:latin typeface="Cambria" panose="02040503050406030204"/>
                          <a:ea typeface="Cambria" panose="02040503050406030204"/>
                        </a:rPr>
                        <a:t>2 Weeks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1280160" y="5753418"/>
            <a:ext cx="5080000" cy="3509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0" defTabSz="266700">
              <a:lnSpc>
                <a:spcPct val="114000"/>
              </a:lnSpc>
              <a:spcAft>
                <a:spcPts val="1000"/>
              </a:spcAft>
            </a:pPr>
            <a:r>
              <a:rPr sz="160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049625" y="9686925"/>
            <a:ext cx="2152649" cy="514350"/>
            <a:chOff x="0" y="0"/>
            <a:chExt cx="2870198" cy="68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70200" cy="685800"/>
            </a:xfrm>
            <a:custGeom>
              <a:avLst/>
              <a:gdLst/>
              <a:ahLst/>
              <a:cxnLst/>
              <a:rect l="l" t="t" r="r" b="b"/>
              <a:pathLst>
                <a:path w="2870200" h="685800">
                  <a:moveTo>
                    <a:pt x="0" y="0"/>
                  </a:moveTo>
                  <a:lnTo>
                    <a:pt x="2870200" y="0"/>
                  </a:lnTo>
                  <a:lnTo>
                    <a:pt x="2870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" r="-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879724" y="2185827"/>
            <a:ext cx="12529344" cy="63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1" dirty="0">
                <a:latin typeface="Times New Roman" panose="02020603050405020304" pitchFamily="18" charset="0"/>
                <a:ea typeface="Courier New OS Bold" panose="02070609020205020404"/>
                <a:cs typeface="Times New Roman" panose="02020603050405020304" pitchFamily="18" charset="0"/>
                <a:sym typeface="Courier New OS Bold" panose="02070609020205020404"/>
              </a:rPr>
              <a:t>Project Outcome: A More Responsive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7498" y="3354180"/>
            <a:ext cx="15913004" cy="219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sz="2750" b="1" spc="-50" dirty="0">
                <a:latin typeface="Times New Roman" panose="02020603050405020304" pitchFamily="18" charset="0"/>
                <a:ea typeface="Tahoma Bold" panose="020B0804030504040204"/>
                <a:cs typeface="Times New Roman" panose="02020603050405020304" pitchFamily="18" charset="0"/>
                <a:sym typeface="Tahoma Bold" panose="020B0804030504040204"/>
              </a:rPr>
              <a:t>The successful implementation of the E-Complaint Redressal System will result in a fully operational web application, significantly enhancing the student experience by providing a structured, transparent, and efficient mechanism for addressing grievances. This project will serve as a foundational step towards fostering a more accountable and student-centric university environment.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76349" y="7092315"/>
            <a:ext cx="354329" cy="283844"/>
            <a:chOff x="0" y="0"/>
            <a:chExt cx="472438" cy="3784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2440" cy="378460"/>
            </a:xfrm>
            <a:custGeom>
              <a:avLst/>
              <a:gdLst/>
              <a:ahLst/>
              <a:cxnLst/>
              <a:rect l="l" t="t" r="r" b="b"/>
              <a:pathLst>
                <a:path w="472440" h="378460">
                  <a:moveTo>
                    <a:pt x="0" y="0"/>
                  </a:moveTo>
                  <a:lnTo>
                    <a:pt x="472440" y="0"/>
                  </a:lnTo>
                  <a:lnTo>
                    <a:pt x="472440" y="378460"/>
                  </a:lnTo>
                  <a:lnTo>
                    <a:pt x="0" y="37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07" b="-60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1033" y="-1033"/>
            <a:ext cx="18290381" cy="10289381"/>
            <a:chOff x="0" y="0"/>
            <a:chExt cx="24387175" cy="137191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6795" cy="13718795"/>
            </a:xfrm>
            <a:custGeom>
              <a:avLst/>
              <a:gdLst/>
              <a:ahLst/>
              <a:cxnLst/>
              <a:rect l="l" t="t" r="r" b="b"/>
              <a:pathLst>
                <a:path w="24386795" h="13718795">
                  <a:moveTo>
                    <a:pt x="2667" y="0"/>
                  </a:moveTo>
                  <a:lnTo>
                    <a:pt x="24384127" y="0"/>
                  </a:lnTo>
                  <a:cubicBezTo>
                    <a:pt x="24385651" y="0"/>
                    <a:pt x="24386795" y="1143"/>
                    <a:pt x="24386795" y="2667"/>
                  </a:cubicBezTo>
                  <a:lnTo>
                    <a:pt x="24386795" y="13716127"/>
                  </a:lnTo>
                  <a:cubicBezTo>
                    <a:pt x="24386795" y="13717651"/>
                    <a:pt x="24385651" y="13718795"/>
                    <a:pt x="24384127" y="13718795"/>
                  </a:cubicBezTo>
                  <a:lnTo>
                    <a:pt x="2667" y="13718795"/>
                  </a:lnTo>
                  <a:cubicBezTo>
                    <a:pt x="1143" y="13718795"/>
                    <a:pt x="0" y="13717651"/>
                    <a:pt x="0" y="13716127"/>
                  </a:cubicBezTo>
                  <a:lnTo>
                    <a:pt x="0" y="2667"/>
                  </a:lnTo>
                  <a:cubicBezTo>
                    <a:pt x="0" y="1143"/>
                    <a:pt x="1143" y="0"/>
                    <a:pt x="2667" y="0"/>
                  </a:cubicBezTo>
                  <a:moveTo>
                    <a:pt x="2667" y="5334"/>
                  </a:moveTo>
                  <a:lnTo>
                    <a:pt x="2667" y="2667"/>
                  </a:lnTo>
                  <a:lnTo>
                    <a:pt x="5334" y="2667"/>
                  </a:lnTo>
                  <a:lnTo>
                    <a:pt x="5334" y="13716127"/>
                  </a:lnTo>
                  <a:lnTo>
                    <a:pt x="2667" y="13716127"/>
                  </a:lnTo>
                  <a:lnTo>
                    <a:pt x="2667" y="13713461"/>
                  </a:lnTo>
                  <a:lnTo>
                    <a:pt x="24384127" y="13713461"/>
                  </a:lnTo>
                  <a:lnTo>
                    <a:pt x="24384127" y="13716127"/>
                  </a:lnTo>
                  <a:lnTo>
                    <a:pt x="24381461" y="13716127"/>
                  </a:lnTo>
                  <a:lnTo>
                    <a:pt x="24381461" y="2667"/>
                  </a:lnTo>
                  <a:lnTo>
                    <a:pt x="24384127" y="2667"/>
                  </a:lnTo>
                  <a:lnTo>
                    <a:pt x="24384127" y="5334"/>
                  </a:lnTo>
                  <a:lnTo>
                    <a:pt x="2667" y="53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CC135D1-D62F-82B0-C4AF-91691E286D62}"/>
              </a:ext>
            </a:extLst>
          </p:cNvPr>
          <p:cNvSpPr/>
          <p:nvPr/>
        </p:nvSpPr>
        <p:spPr>
          <a:xfrm>
            <a:off x="15849600" y="9486900"/>
            <a:ext cx="2352676" cy="714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883F36-C099-43CA-8667-72A6D417D0F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-85724" y="-97971"/>
            <a:ext cx="18288000" cy="1109448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66*548"/>
  <p:tag name="TABLE_ENDDRAG_RECT" val="71*229*1166*54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454</Words>
  <Application>Microsoft Office PowerPoint</Application>
  <PresentationFormat>Custom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E-Complaint-Redressal-System-A-Complete-Roadmap-for-University-IT-Administrators (2).pptx</dc:title>
  <dc:creator>Abhishek Mishra</dc:creator>
  <cp:lastModifiedBy>Abhishek Mishra</cp:lastModifiedBy>
  <cp:revision>4</cp:revision>
  <dcterms:created xsi:type="dcterms:W3CDTF">2006-08-16T00:00:00Z</dcterms:created>
  <dcterms:modified xsi:type="dcterms:W3CDTF">2025-08-19T17:54:00Z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7B80468C472B4A3D99C0299DF100BF0B_13</vt:lpwstr>
  </property>
  <property fmtid="{D5CDD505-2E9C-101B-9397-08002B2CF9AE}" pid="3" name="KSOProductBuildVer">
    <vt:lpwstr>1033-12.2.0.21931</vt:lpwstr>
  </property>
</Properties>
</file>